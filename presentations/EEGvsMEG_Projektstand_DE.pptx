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59b87695584bac" /><Relationship Type="http://schemas.openxmlformats.org/officeDocument/2006/relationships/extended-properties" Target="/docProps/app.xml" Id="Re25d87f2f23d4162" /><Relationship Type="http://schemas.openxmlformats.org/officeDocument/2006/relationships/officeDocument" Target="/ppt/presentation.xml" Id="Rf59357c9c76546f8" /></Relationships>
</file>

<file path=ppt/presentation.xml><?xml version="1.0" encoding="utf-8"?>
<p:presentation xmlns:p="http://schemas.openxmlformats.org/presentationml/2006/main">
  <p:sldMasterIdLst>
    <p:sldMasterId xmlns:r="http://schemas.openxmlformats.org/officeDocument/2006/relationships" id="2147483648" r:id="R12d091f89f7048f9"/>
  </p:sldMasterIdLst>
  <p:notesMasterIdLst>
    <p:notesMasterId xmlns:r="http://schemas.openxmlformats.org/officeDocument/2006/relationships" r:id="R541025288ed74fff"/>
  </p:notesMasterIdLst>
  <p:sldIdLst>
    <p:sldId xmlns:r="http://schemas.openxmlformats.org/officeDocument/2006/relationships" id="256" r:id="Rd4e82fdc74f94a66"/>
    <p:sldId xmlns:r="http://schemas.openxmlformats.org/officeDocument/2006/relationships" id="257" r:id="R3e6ef45ca88a4ab8"/>
    <p:sldId xmlns:r="http://schemas.openxmlformats.org/officeDocument/2006/relationships" id="258" r:id="R508b35e0b8584231"/>
    <p:sldId xmlns:r="http://schemas.openxmlformats.org/officeDocument/2006/relationships" id="259" r:id="Rf2f091d3120947d0"/>
    <p:sldId xmlns:r="http://schemas.openxmlformats.org/officeDocument/2006/relationships" id="260" r:id="R34f46fe0122d4457"/>
    <p:sldId xmlns:r="http://schemas.openxmlformats.org/officeDocument/2006/relationships" id="261" r:id="R6452fde5c24f46e0"/>
    <p:sldId xmlns:r="http://schemas.openxmlformats.org/officeDocument/2006/relationships" id="262" r:id="R8182e98227ab4c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25b756aa834629" /><Relationship Type="http://schemas.openxmlformats.org/officeDocument/2006/relationships/slideMaster" Target="/ppt/slideMasters/slideMaster1.xml" Id="R12d091f89f7048f9" /><Relationship Type="http://schemas.openxmlformats.org/officeDocument/2006/relationships/notesMaster" Target="/ppt/notesMasters/notesMaster1.xml" Id="R541025288ed74fff" /><Relationship Type="http://schemas.openxmlformats.org/officeDocument/2006/relationships/presProps" Target="/ppt/presProps.xml" Id="R3cde87ee553c4f10" /><Relationship Type="http://schemas.openxmlformats.org/officeDocument/2006/relationships/tableStyles" Target="/ppt/tableStyles.xml" Id="R8ca06fd5b11f4469" /><Relationship Type="http://schemas.openxmlformats.org/officeDocument/2006/relationships/slide" Target="/ppt/slides/slide1.xml" Id="Rd4e82fdc74f94a66" /><Relationship Type="http://schemas.openxmlformats.org/officeDocument/2006/relationships/slide" Target="/ppt/slides/slide2.xml" Id="R3e6ef45ca88a4ab8" /><Relationship Type="http://schemas.openxmlformats.org/officeDocument/2006/relationships/slide" Target="/ppt/slides/slide3.xml" Id="R508b35e0b8584231" /><Relationship Type="http://schemas.openxmlformats.org/officeDocument/2006/relationships/slide" Target="/ppt/slides/slide4.xml" Id="Rf2f091d3120947d0" /><Relationship Type="http://schemas.openxmlformats.org/officeDocument/2006/relationships/slide" Target="/ppt/slides/slide5.xml" Id="R34f46fe0122d4457" /><Relationship Type="http://schemas.openxmlformats.org/officeDocument/2006/relationships/slide" Target="/ppt/slides/slide6.xml" Id="R6452fde5c24f46e0" /><Relationship Type="http://schemas.openxmlformats.org/officeDocument/2006/relationships/slide" Target="/ppt/slides/slide7.xml" Id="R8182e98227ab4c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7642d83b0e48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072943b9a74ae3" /><Relationship Type="http://schemas.openxmlformats.org/officeDocument/2006/relationships/notesMaster" Target="/ppt/notesMasters/notesMaster1.xml" Id="R9385091a1e0a43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36e4c3003242b7" /><Relationship Type="http://schemas.openxmlformats.org/officeDocument/2006/relationships/notesMaster" Target="/ppt/notesMasters/notesMaster1.xml" Id="Rba6e2f9654f24e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5bebf592e643d3" /><Relationship Type="http://schemas.openxmlformats.org/officeDocument/2006/relationships/notesMaster" Target="/ppt/notesMasters/notesMaster1.xml" Id="R9660896de15b45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aaca0a0e7b4c37" /><Relationship Type="http://schemas.openxmlformats.org/officeDocument/2006/relationships/notesMaster" Target="/ppt/notesMasters/notesMaster1.xml" Id="R6bf06a2b6ba3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09c6f5f2e44c6d" /><Relationship Type="http://schemas.openxmlformats.org/officeDocument/2006/relationships/notesMaster" Target="/ppt/notesMasters/notesMaster1.xml" Id="R17c7a77e27f84f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0a5a8cdd844515" /><Relationship Type="http://schemas.openxmlformats.org/officeDocument/2006/relationships/notesMaster" Target="/ppt/notesMasters/notesMaster1.xml" Id="R6289608b50fd42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5047f0e57e4be7" /><Relationship Type="http://schemas.openxmlformats.org/officeDocument/2006/relationships/notesMaster" Target="/ppt/notesMasters/notesMaster1.xml" Id="Re69de41c06a04e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Schwerpunkt dieses Zwischenstands sind die implementierte Erfassungssoftware und die Vorbereitung der ersten Datenerhebung am Montag, 19. Oktober 2026. Termin laut Projektplanung des Präsentierenden.</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/Users/theoa/Desktop/Projects/EEGvsMEG/gtec_Clib/terminal/experiments.h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/Users/theoa/Desktop/Projects/EEGvsMEG/gtec_Clib/terminal/cues.h</a:t>
            </a:r>
          </a:p>
          <a:p xmlns:a="http://schemas.openxmlformats.org/drawingml/2006/main">
            <a:r>
              <a:t>/Users/theoa/Desktop/Projects/EEGvsMEG/gtec_Clib/terminal/recorder.h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/Users/theoa/Desktop/Projects/EEGvsMEG/docs/plannedExperiments/wordGeneration.md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vorhandene Viewer kann EEG-Spalten und Ereignisse einlesen, Einheiten umrechnen, Daten prüfen sowie Zeitverläufe und Welch-Spektren darstellen. Optional sind ein 50-Hz-Notch und ein 0,5–30-Hz-Bandpass auf einer Anzeigekopie verfügbar, die CSV bleibt erhalten. Die Auswertungsschritte 2–4 sind geplant. Eine automatische Artefaktkorrektur und Klassifikation sind nicht implementiert. Mu-/Alpha- und Beta-Band, Bandpower, CSP beziehungsweise Filter-Bank-CSP sind mögliche Ansätze, deren Eignung an Pilotdaten geprüft werden soll. Klassifikation zunächst innerhalb der Hauptläufe, etwa Arme gegen Beine oder Arm- gegen Beinvorstellung. Segmente desselben Trials bleiben bei Training/Test zusammen. Für Übertragbarkeit über Sitzungen oder Personen sind ganze Sitzungen beziehungsweise Personen zurückzuhalten. Bewegungs- und Augensignale dürfen nicht pauschal als neuronale Aktivität interpretiert werden.</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/Users/theoa/Desktop/Projects/EEGvsMEG/docs/plannedExperiments/studyDesign.md</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xmlns:a="http://schemas.openxmlformats.org/drawingml/2006/main">
            <a:r>
              <a:t/>
            </a:r>
          </a:p>
          <a:p xmlns:a="http://schemas.openxmlformats.org/drawingml/2006/main">
            <a:r>
              <a:t>Project sources:</a:t>
            </a:r>
          </a:p>
          <a:p xmlns:a="http://schemas.openxmlformats.org/drawingml/2006/main">
            <a:r>
              <a:t>/Users/theoa/Desktop/Projects/EEGvsMEG/docs/Einwilligungserklaerung_EEG-Studie.html</a:t>
            </a:r>
          </a:p>
          <a:p xmlns:a="http://schemas.openxmlformats.org/drawingml/2006/main">
            <a:r>
              <a:t>/Users/theoa/Desktop/Projects/EEGvsMEG/docs/experiment-protocol.md</a:t>
            </a:r>
          </a:p>
          <a:p xmlns:a="http://schemas.openxmlformats.org/drawingml/2006/main">
            <a:r>
              <a:t>/Users/theoa/Desktop/Projects/EEGvsMEG/gtec_Clib/terminal/test_recorder.py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5b908e9f4141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bc4b1537844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30a4bf370444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a980e5176749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b69f4903ff41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825df9fffd43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A9FD4D-CD08-4096-A3F9-D2D0855643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410556-EB49-41ED-80D0-E1C25F21D9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52D348-A131-409A-8545-34B3E0A953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4ABB4F-53DA-428D-B0F2-E6C1E0686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4CCF1D-949F-489B-8C1D-1561DD6BB0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CDA2C8-D4F8-483C-A965-9DD0AF4CEF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CA447C-C726-4074-9681-E9EB362579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783C20-F41B-41CF-AD74-9DA3938704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D65389-01F6-4525-A08E-DC0DBDABD6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58DEEB-860F-4924-A26D-CD0133C117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dc94a16ed14bac" /><Relationship Type="http://schemas.openxmlformats.org/officeDocument/2006/relationships/slideLayout" Target="/ppt/slideLayouts/slideLayout1.xml" Id="R4f8a6acfb2944b7b" /><Relationship Type="http://schemas.openxmlformats.org/officeDocument/2006/relationships/slideLayout" Target="/ppt/slideLayouts/slideLayout2.xml" Id="R20be67a656534d81" /><Relationship Type="http://schemas.openxmlformats.org/officeDocument/2006/relationships/slideLayout" Target="/ppt/slideLayouts/slideLayout3.xml" Id="R9b1bb407b11a4ef9" /><Relationship Type="http://schemas.openxmlformats.org/officeDocument/2006/relationships/slideLayout" Target="/ppt/slideLayouts/slideLayout4.xml" Id="Re6968c25ba204561" /><Relationship Type="http://schemas.openxmlformats.org/officeDocument/2006/relationships/slideLayout" Target="/ppt/slideLayouts/slideLayout5.xml" Id="R1651b81be6c84dc4" /><Relationship Type="http://schemas.openxmlformats.org/officeDocument/2006/relationships/slideLayout" Target="/ppt/slideLayouts/slideLayout6.xml" Id="R18fd623b30fa4f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8a6acfb2944b7b"/>
    <p:sldLayoutId xmlns:r="http://schemas.openxmlformats.org/officeDocument/2006/relationships" id="2147483650" r:id="R20be67a656534d81"/>
    <p:sldLayoutId xmlns:r="http://schemas.openxmlformats.org/officeDocument/2006/relationships" id="2147483651" r:id="R9b1bb407b11a4ef9"/>
    <p:sldLayoutId xmlns:r="http://schemas.openxmlformats.org/officeDocument/2006/relationships" id="2147483652" r:id="Re6968c25ba204561"/>
    <p:sldLayoutId xmlns:r="http://schemas.openxmlformats.org/officeDocument/2006/relationships" id="2147483653" r:id="R1651b81be6c84dc4"/>
    <p:sldLayoutId xmlns:r="http://schemas.openxmlformats.org/officeDocument/2006/relationships" id="2147483654" r:id="R18fd623b30fa4f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6c3ff699524ee7" /><Relationship Type="http://schemas.openxmlformats.org/officeDocument/2006/relationships/notesSlide" Target="/ppt/notesSlides/notesSlide1.xml" Id="Re264bedec6764d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567b40fda14826" /><Relationship Type="http://schemas.openxmlformats.org/officeDocument/2006/relationships/notesSlide" Target="/ppt/notesSlides/notesSlide2.xml" Id="Rc61ff67f021841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bcaecd8605467f" /><Relationship Type="http://schemas.openxmlformats.org/officeDocument/2006/relationships/notesSlide" Target="/ppt/notesSlides/notesSlide3.xml" Id="R897c5b8de9bd47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5b5175890e462b" /><Relationship Type="http://schemas.openxmlformats.org/officeDocument/2006/relationships/notesSlide" Target="/ppt/notesSlides/notesSlide4.xml" Id="R03a62272d58e45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27dd2d87eb412f" /><Relationship Type="http://schemas.openxmlformats.org/officeDocument/2006/relationships/notesSlide" Target="/ppt/notesSlides/notesSlide5.xml" Id="Rd1bb42693de545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bdfa1043074671" /><Relationship Type="http://schemas.openxmlformats.org/officeDocument/2006/relationships/notesSlide" Target="/ppt/notesSlides/notesSlide6.xml" Id="Rb2243b827d8846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69fc6dfbe545d4" /><Relationship Type="http://schemas.openxmlformats.org/officeDocument/2006/relationships/notesSlide" Target="/ppt/notesSlides/notesSlide7.xml" Id="R7158f2fd35f8412c"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1385D2-AD54-47C9-BD82-984A69F91E1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BD97813A-B4C9-44AC-871E-2AD7AC22F67D}"/>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0F154506-B249-4581-93B9-2F3853A14183}"/>
              </a:ext>
            </a:extLst>
          </p:cNvPr>
          <p:cNvSpPr>
            <a:spLocks xmlns:a="http://schemas.openxmlformats.org/drawingml/2006/main" noGrp="1"/>
          </p:cNvSpPr>
          <p:nvPr/>
        </p:nvSpPr>
        <p:spPr>
          <a:xfrm xmlns:a="http://schemas.openxmlformats.org/drawingml/2006/main">
            <a:off x="704850" y="21336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3B"/>
                </a:solidFill>
              </a:defRPr>
            </a:defPPr>
          </a:lstStyle>
          <a:p xmlns:a="http://schemas.openxmlformats.org/drawingml/2006/main">
            <a:pPr>
              <a:defRPr sz="4050" b="1">
                <a:solidFill>
                  <a:srgbClr val="142B3B"/>
                </a:solidFill>
              </a:defRPr>
            </a:pPr>
            <a:r>
              <a:rPr sz="4050" b="1">
                <a:solidFill>
                  <a:srgbClr val="142B3B"/>
                </a:solidFill>
              </a:rPr>
              <a:t>Implementierung und Versuchsablauf</a:t>
            </a:r>
          </a:p>
        </p:txBody>
      </p:sp>
      <p:sp>
        <p:nvSpPr>
          <p:cNvPr id="4" name="">
            <a:extLst xmlns:a="http://schemas.openxmlformats.org/drawingml/2006/main">
              <a:ext uri="{FF2B5EF4-FFF2-40B4-BE49-F238E27FC236}">
                <a16:creationId xmlns:a16="http://schemas.microsoft.com/office/drawing/2014/main" id="{A74177E1-5AFC-4B32-8EAB-901DB19F9D80}"/>
              </a:ext>
            </a:extLst>
          </p:cNvPr>
          <p:cNvSpPr>
            <a:spLocks xmlns:a="http://schemas.openxmlformats.org/drawingml/2006/main" noGrp="1"/>
          </p:cNvSpPr>
          <p:nvPr/>
        </p:nvSpPr>
        <p:spPr>
          <a:xfrm xmlns:a="http://schemas.openxmlformats.org/drawingml/2006/main">
            <a:off x="723900" y="37909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35563"/>
                </a:solidFill>
              </a:defRPr>
            </a:defPPr>
          </a:lstStyle>
          <a:p xmlns:a="http://schemas.openxmlformats.org/drawingml/2006/main">
            <a:pPr>
              <a:defRPr sz="2325" b="0">
                <a:solidFill>
                  <a:srgbClr val="435563"/>
                </a:solidFill>
              </a:defRPr>
            </a:pPr>
            <a:r>
              <a:rPr sz="2325" b="0">
                <a:solidFill>
                  <a:srgbClr val="435563"/>
                </a:solidFill>
              </a:rPr>
              <a:t>C-API-CLI, Teilnehmeranzeige und geplante Auswertung</a:t>
            </a:r>
          </a:p>
        </p:txBody>
      </p:sp>
      <p:sp>
        <p:nvSpPr>
          <p:cNvPr id="5" name="">
            <a:extLst xmlns:a="http://schemas.openxmlformats.org/drawingml/2006/main">
              <a:ext uri="{FF2B5EF4-FFF2-40B4-BE49-F238E27FC236}">
                <a16:creationId xmlns:a16="http://schemas.microsoft.com/office/drawing/2014/main" id="{7CC7CCD6-FD68-42A5-B6E0-03AFF85E095A}"/>
              </a:ext>
            </a:extLst>
          </p:cNvPr>
          <p:cNvSpPr>
            <a:spLocks xmlns:a="http://schemas.openxmlformats.org/drawingml/2006/main" noGrp="1"/>
          </p:cNvSpPr>
          <p:nvPr/>
        </p:nvSpPr>
        <p:spPr>
          <a:xfrm xmlns:a="http://schemas.openxmlformats.org/drawingml/2006/main">
            <a:off x="723900" y="52197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Oktober 2026</a:t>
            </a:r>
          </a:p>
        </p:txBody>
      </p:sp>
    </p:spTree>
    <p:extLst>
      <p:ext uri="{BB962C8B-B14F-4D97-AF65-F5344CB8AC3E}">
        <p14:creationId xmlns:p14="http://schemas.microsoft.com/office/powerpoint/2010/main" val="1598318477"/>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B22B7B-71EF-4D1B-8DD8-A1059AB99255}"/>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Implementiert: C-API-CLI</a:t>
            </a:r>
          </a:p>
        </p:txBody>
      </p:sp>
      <p:sp>
        <p:nvSpPr>
          <p:cNvPr id="2" name="">
            <a:extLst xmlns:a="http://schemas.openxmlformats.org/drawingml/2006/main">
              <a:ext uri="{FF2B5EF4-FFF2-40B4-BE49-F238E27FC236}">
                <a16:creationId xmlns:a16="http://schemas.microsoft.com/office/drawing/2014/main" id="{CBC680EF-1EA1-444C-9546-19E99F0C52B5}"/>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1FB5FD6E-48C8-450D-BB01-B4B5135FBEA5}"/>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Gerätezugriff</a:t>
            </a:r>
          </a:p>
        </p:txBody>
      </p:sp>
      <p:sp>
        <p:nvSpPr>
          <p:cNvPr id="4" name="">
            <a:extLst xmlns:a="http://schemas.openxmlformats.org/drawingml/2006/main">
              <a:ext uri="{FF2B5EF4-FFF2-40B4-BE49-F238E27FC236}">
                <a16:creationId xmlns:a16="http://schemas.microsoft.com/office/drawing/2014/main" id="{42769FA8-F11B-4119-9F14-D71CE702F621}"/>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Unicorn-Headset über die Hersteller-C-API verbinden und konfigurieren.</a:t>
            </a:r>
          </a:p>
        </p:txBody>
      </p:sp>
      <p:sp>
        <p:nvSpPr>
          <p:cNvPr id="5" name="">
            <a:extLst xmlns:a="http://schemas.openxmlformats.org/drawingml/2006/main">
              <a:ext uri="{FF2B5EF4-FFF2-40B4-BE49-F238E27FC236}">
                <a16:creationId xmlns:a16="http://schemas.microsoft.com/office/drawing/2014/main" id="{07A449D1-76D6-45A8-AC95-69475FC64F16}"/>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Aufzeichnung</a:t>
            </a:r>
          </a:p>
        </p:txBody>
      </p:sp>
      <p:sp>
        <p:nvSpPr>
          <p:cNvPr id="6" name="">
            <a:extLst xmlns:a="http://schemas.openxmlformats.org/drawingml/2006/main">
              <a:ext uri="{FF2B5EF4-FFF2-40B4-BE49-F238E27FC236}">
                <a16:creationId xmlns:a16="http://schemas.microsoft.com/office/drawing/2014/main" id="{0F76FBBF-5F2B-4A54-BEF7-4C52CB919EF0}"/>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250 Hz, kurze Testaufnahmen oder kontinuierliche Aufnahme mit optionalem Zeitlimit.</a:t>
            </a:r>
          </a:p>
        </p:txBody>
      </p:sp>
      <p:sp>
        <p:nvSpPr>
          <p:cNvPr id="7" name="">
            <a:extLst xmlns:a="http://schemas.openxmlformats.org/drawingml/2006/main">
              <a:ext uri="{FF2B5EF4-FFF2-40B4-BE49-F238E27FC236}">
                <a16:creationId xmlns:a16="http://schemas.microsoft.com/office/drawing/2014/main" id="{1E2B68A8-4E0E-4CD8-B54C-7213DDF2BF89}"/>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Datenverwaltung</a:t>
            </a:r>
          </a:p>
        </p:txBody>
      </p:sp>
      <p:sp>
        <p:nvSpPr>
          <p:cNvPr id="8" name="">
            <a:extLst xmlns:a="http://schemas.openxmlformats.org/drawingml/2006/main">
              <a:ext uri="{FF2B5EF4-FFF2-40B4-BE49-F238E27FC236}">
                <a16:creationId xmlns:a16="http://schemas.microsoft.com/office/drawing/2014/main" id="{CDAA04A6-C738-4F92-9236-E6831167C3A5}"/>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Versuchsordner, EEG-CSV und separate Ereignisdatei. Schutz vor Überschreiben.</a:t>
            </a:r>
          </a:p>
        </p:txBody>
      </p:sp>
      <p:sp>
        <p:nvSpPr>
          <p:cNvPr id="9" name="">
            <a:extLst xmlns:a="http://schemas.openxmlformats.org/drawingml/2006/main">
              <a:ext uri="{FF2B5EF4-FFF2-40B4-BE49-F238E27FC236}">
                <a16:creationId xmlns:a16="http://schemas.microsoft.com/office/drawing/2014/main" id="{23B17408-2A32-43DC-8181-892D0AD4A076}"/>
              </a:ext>
            </a:extLst>
          </p:cNvPr>
          <p:cNvSpPr>
            <a:spLocks xmlns:a="http://schemas.openxmlformats.org/drawingml/2006/main" noGrp="1"/>
          </p:cNvSpPr>
          <p:nvPr/>
        </p:nvSpPr>
        <p:spPr>
          <a:xfrm xmlns:a="http://schemas.openxmlformats.org/drawingml/2006/main">
            <a:off x="723900" y="4962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NewExp "Pilot_01"</a:t>
            </a:r>
          </a:p>
          <a:p xmlns:a="http://schemas.openxmlformats.org/drawingml/2006/main">
            <a:pPr>
              <a:defRPr sz="1875" b="0">
                <a:solidFill>
                  <a:srgbClr val="087F83"/>
                </a:solidFill>
              </a:defRPr>
            </a:pPr>
            <a:r>
              <a:rPr sz="1875" b="0">
                <a:solidFill>
                  <a:srgbClr val="087F83"/>
                </a:solidFill>
              </a:rPr>
              <a:t>scan paired   /   open &lt;Seriennummer&gt;</a:t>
            </a:r>
          </a:p>
          <a:p xmlns:a="http://schemas.openxmlformats.org/drawingml/2006/main">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1959172582"/>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4CBA72-C9BD-48FE-A77A-E27D6B5B00B9}"/>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Teilnehmeranzeige beim Szenariowechsel</a:t>
            </a:r>
          </a:p>
        </p:txBody>
      </p:sp>
      <p:sp>
        <p:nvSpPr>
          <p:cNvPr id="2" name="">
            <a:extLst xmlns:a="http://schemas.openxmlformats.org/drawingml/2006/main">
              <a:ext uri="{FF2B5EF4-FFF2-40B4-BE49-F238E27FC236}">
                <a16:creationId xmlns:a16="http://schemas.microsoft.com/office/drawing/2014/main" id="{6F6102F8-2D26-4CBE-89BA-4FD15293C98A}"/>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56CE3F61-F99A-4357-BE48-A0058721A5CF}"/>
              </a:ext>
            </a:extLst>
          </p:cNvPr>
          <p:cNvSpPr>
            <a:spLocks xmlns:a="http://schemas.openxmlformats.org/drawingml/2006/main" noGrp="1"/>
          </p:cNvSpPr>
          <p:nvPr/>
        </p:nvSpPr>
        <p:spPr>
          <a:xfrm xmlns:a="http://schemas.openxmlformats.org/drawingml/2006/main">
            <a:off x="704850" y="1685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Automatische Anzeige</a:t>
            </a:r>
          </a:p>
        </p:txBody>
      </p:sp>
      <p:sp>
        <p:nvSpPr>
          <p:cNvPr id="4" name="">
            <a:extLst xmlns:a="http://schemas.openxmlformats.org/drawingml/2006/main">
              <a:ext uri="{FF2B5EF4-FFF2-40B4-BE49-F238E27FC236}">
                <a16:creationId xmlns:a16="http://schemas.microsoft.com/office/drawing/2014/main" id="{0CAB879F-D214-45BE-BDCA-87C9806802AE}"/>
              </a:ext>
            </a:extLst>
          </p:cNvPr>
          <p:cNvSpPr>
            <a:spLocks xmlns:a="http://schemas.openxmlformats.org/drawingml/2006/main" noGrp="1"/>
          </p:cNvSpPr>
          <p:nvPr/>
        </p:nvSpPr>
        <p:spPr>
          <a:xfrm xmlns:a="http://schemas.openxmlformats.org/drawingml/2006/main">
            <a:off x="3981450" y="1685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Ein Szenariobefehl aktualisiert die Anweisung im separaten Teilnehmerfenster.</a:t>
            </a:r>
          </a:p>
        </p:txBody>
      </p:sp>
      <p:sp>
        <p:nvSpPr>
          <p:cNvPr id="5" name="">
            <a:extLst xmlns:a="http://schemas.openxmlformats.org/drawingml/2006/main">
              <a:ext uri="{FF2B5EF4-FFF2-40B4-BE49-F238E27FC236}">
                <a16:creationId xmlns:a16="http://schemas.microsoft.com/office/drawing/2014/main" id="{DF8E6568-3DB0-4457-B4DC-4083BA610FA8}"/>
              </a:ext>
            </a:extLst>
          </p:cNvPr>
          <p:cNvSpPr>
            <a:spLocks xmlns:a="http://schemas.openxmlformats.org/drawingml/2006/main" noGrp="1"/>
          </p:cNvSpPr>
          <p:nvPr/>
        </p:nvSpPr>
        <p:spPr>
          <a:xfrm xmlns:a="http://schemas.openxmlformats.org/drawingml/2006/main">
            <a:off x="704850" y="26860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Passender Marker</a:t>
            </a:r>
          </a:p>
        </p:txBody>
      </p:sp>
      <p:sp>
        <p:nvSpPr>
          <p:cNvPr id="6" name="">
            <a:extLst xmlns:a="http://schemas.openxmlformats.org/drawingml/2006/main">
              <a:ext uri="{FF2B5EF4-FFF2-40B4-BE49-F238E27FC236}">
                <a16:creationId xmlns:a16="http://schemas.microsoft.com/office/drawing/2014/main" id="{C7D76D6C-2AD3-45B7-8B5A-DF7F23AB2895}"/>
              </a:ext>
            </a:extLst>
          </p:cNvPr>
          <p:cNvSpPr>
            <a:spLocks xmlns:a="http://schemas.openxmlformats.org/drawingml/2006/main" noGrp="1"/>
          </p:cNvSpPr>
          <p:nvPr/>
        </p:nvSpPr>
        <p:spPr>
          <a:xfrm xmlns:a="http://schemas.openxmlformats.org/drawingml/2006/main">
            <a:off x="3981450" y="26860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Derselbe Befehl protokolliert die Aufgabenbezeichnung während der Aufnahme.</a:t>
            </a:r>
          </a:p>
        </p:txBody>
      </p:sp>
      <p:sp>
        <p:nvSpPr>
          <p:cNvPr id="7" name="">
            <a:extLst xmlns:a="http://schemas.openxmlformats.org/drawingml/2006/main">
              <a:ext uri="{FF2B5EF4-FFF2-40B4-BE49-F238E27FC236}">
                <a16:creationId xmlns:a16="http://schemas.microsoft.com/office/drawing/2014/main" id="{2806C858-B209-4B4D-A3BD-6D50BDC3EFD6}"/>
              </a:ext>
            </a:extLst>
          </p:cNvPr>
          <p:cNvSpPr>
            <a:spLocks xmlns:a="http://schemas.openxmlformats.org/drawingml/2006/main" noGrp="1"/>
          </p:cNvSpPr>
          <p:nvPr/>
        </p:nvSpPr>
        <p:spPr>
          <a:xfrm xmlns:a="http://schemas.openxmlformats.org/drawingml/2006/main">
            <a:off x="704850" y="3686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Flexible Aufgaben</a:t>
            </a:r>
          </a:p>
        </p:txBody>
      </p:sp>
      <p:sp>
        <p:nvSpPr>
          <p:cNvPr id="8" name="">
            <a:extLst xmlns:a="http://schemas.openxmlformats.org/drawingml/2006/main">
              <a:ext uri="{FF2B5EF4-FFF2-40B4-BE49-F238E27FC236}">
                <a16:creationId xmlns:a16="http://schemas.microsoft.com/office/drawing/2014/main" id="{3C7C0E7C-3CC8-40B4-90DB-B05A91A0B9D9}"/>
              </a:ext>
            </a:extLst>
          </p:cNvPr>
          <p:cNvSpPr>
            <a:spLocks xmlns:a="http://schemas.openxmlformats.org/drawingml/2006/main" noGrp="1"/>
          </p:cNvSpPr>
          <p:nvPr/>
        </p:nvSpPr>
        <p:spPr>
          <a:xfrm xmlns:a="http://schemas.openxmlformats.org/drawingml/2006/main">
            <a:off x="3981450" y="3686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Bewegung, Kopfrechnen, Fixationskreuz und eigene Anweisungen. Vollbild mit F11.</a:t>
            </a:r>
          </a:p>
        </p:txBody>
      </p:sp>
      <p:sp>
        <p:nvSpPr>
          <p:cNvPr id="9" name="">
            <a:extLst xmlns:a="http://schemas.openxmlformats.org/drawingml/2006/main">
              <a:ext uri="{FF2B5EF4-FFF2-40B4-BE49-F238E27FC236}">
                <a16:creationId xmlns:a16="http://schemas.microsoft.com/office/drawing/2014/main" id="{9D321600-1ABE-4728-8837-0925EE1F9F58}"/>
              </a:ext>
            </a:extLst>
          </p:cNvPr>
          <p:cNvSpPr>
            <a:spLocks xmlns:a="http://schemas.openxmlformats.org/drawingml/2006/main" noGrp="1"/>
          </p:cNvSpPr>
          <p:nvPr/>
        </p:nvSpPr>
        <p:spPr>
          <a:xfrm xmlns:a="http://schemas.openxmlformats.org/drawingml/2006/main">
            <a:off x="7239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3"/>
                </a:solidFill>
              </a:defRPr>
            </a:defPPr>
          </a:lstStyle>
          <a:p xmlns:a="http://schemas.openxmlformats.org/drawingml/2006/main">
            <a:pPr>
              <a:defRPr sz="1800" b="0">
                <a:solidFill>
                  <a:srgbClr val="087F83"/>
                </a:solidFill>
              </a:defRPr>
            </a:pPr>
            <a:r>
              <a:rPr sz="1800" b="0">
                <a:solidFill>
                  <a:srgbClr val="087F83"/>
                </a:solidFill>
              </a:rPr>
              <a:t>cue open</a:t>
            </a:r>
          </a:p>
          <a:p xmlns:a="http://schemas.openxmlformats.org/drawingml/2006/main">
            <a:pPr>
              <a:defRPr sz="1800" b="0">
                <a:solidFill>
                  <a:srgbClr val="087F83"/>
                </a:solidFill>
              </a:defRPr>
            </a:pPr>
            <a:r>
              <a:rPr sz="1800" b="0">
                <a:solidFill>
                  <a:srgbClr val="087F83"/>
                </a:solidFill>
              </a:rPr>
              <a:t>mark hands_up   /   mark legs_up   /   mark rest</a:t>
            </a:r>
          </a:p>
          <a:p xmlns:a="http://schemas.openxmlformats.org/drawingml/2006/main">
            <a:pPr>
              <a:defRPr sz="1800" b="0">
                <a:solidFill>
                  <a:srgbClr val="087F83"/>
                </a:solidFill>
              </a:defRPr>
            </a:pPr>
            <a:r>
              <a:rPr sz="1800" b="0">
                <a:solidFill>
                  <a:srgbClr val="087F83"/>
                </a:solidFill>
              </a:rPr>
              <a:t>mark subtract 7 from 347</a:t>
            </a:r>
          </a:p>
          <a:p xmlns:a="http://schemas.openxmlformats.org/drawingml/2006/main">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943206439"/>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BD0EE3-14AA-47FD-9589-C2F1D68F906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Szenarien im ersten Pilotversuch</a:t>
            </a:r>
          </a:p>
        </p:txBody>
      </p:sp>
      <p:sp>
        <p:nvSpPr>
          <p:cNvPr id="2" name="">
            <a:extLst xmlns:a="http://schemas.openxmlformats.org/drawingml/2006/main">
              <a:ext uri="{FF2B5EF4-FFF2-40B4-BE49-F238E27FC236}">
                <a16:creationId xmlns:a16="http://schemas.microsoft.com/office/drawing/2014/main" id="{E2168261-25C9-4FCB-B84C-FF953B307C4C}"/>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DDCB815A-4EBF-456E-86EE-114BA8C18104}"/>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a:t>
            </a:r>
          </a:p>
        </p:txBody>
      </p:sp>
      <p:sp>
        <p:nvSpPr>
          <p:cNvPr id="4" name="">
            <a:extLst xmlns:a="http://schemas.openxmlformats.org/drawingml/2006/main">
              <a:ext uri="{FF2B5EF4-FFF2-40B4-BE49-F238E27FC236}">
                <a16:creationId xmlns:a16="http://schemas.microsoft.com/office/drawing/2014/main" id="{CCA9551C-F62E-4EAF-A6CA-B80B4C01AB61}"/>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Beide Unterarme anheben, beide Füße anheben oder zweimal bewusst blinzeln. Je 20 Trials.</a:t>
            </a:r>
          </a:p>
        </p:txBody>
      </p:sp>
      <p:sp>
        <p:nvSpPr>
          <p:cNvPr id="5" name="">
            <a:extLst xmlns:a="http://schemas.openxmlformats.org/drawingml/2006/main">
              <a:ext uri="{FF2B5EF4-FFF2-40B4-BE49-F238E27FC236}">
                <a16:creationId xmlns:a16="http://schemas.microsoft.com/office/drawing/2014/main" id="{4A18000B-263A-4D2C-8F04-9E8061A7CC3B}"/>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 Imagery</a:t>
            </a:r>
          </a:p>
        </p:txBody>
      </p:sp>
      <p:sp>
        <p:nvSpPr>
          <p:cNvPr id="6" name="">
            <a:extLst xmlns:a="http://schemas.openxmlformats.org/drawingml/2006/main">
              <a:ext uri="{FF2B5EF4-FFF2-40B4-BE49-F238E27FC236}">
                <a16:creationId xmlns:a16="http://schemas.microsoft.com/office/drawing/2014/main" id="{BD5D8FE5-631D-4174-8783-D97360606098}"/>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
            <a:extLst xmlns:a="http://schemas.openxmlformats.org/drawingml/2006/main">
              <a:ext uri="{FF2B5EF4-FFF2-40B4-BE49-F238E27FC236}">
                <a16:creationId xmlns:a16="http://schemas.microsoft.com/office/drawing/2014/main" id="{EE4F0E56-2E66-4092-9CDE-28049D7AE664}"/>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8" name="">
            <a:extLst xmlns:a="http://schemas.openxmlformats.org/drawingml/2006/main">
              <a:ext uri="{FF2B5EF4-FFF2-40B4-BE49-F238E27FC236}">
                <a16:creationId xmlns:a16="http://schemas.microsoft.com/office/drawing/2014/main" id="{BD0300FF-1723-4515-9A79-E5DF395B729B}"/>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
            <a:extLst xmlns:a="http://schemas.openxmlformats.org/drawingml/2006/main">
              <a:ext uri="{FF2B5EF4-FFF2-40B4-BE49-F238E27FC236}">
                <a16:creationId xmlns:a16="http://schemas.microsoft.com/office/drawing/2014/main" id="{29C6E625-6ED4-4F5B-B96E-C2B706627F40}"/>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Ruhephasen</a:t>
            </a:r>
          </a:p>
        </p:txBody>
      </p:sp>
      <p:sp>
        <p:nvSpPr>
          <p:cNvPr id="10" name="">
            <a:extLst xmlns:a="http://schemas.openxmlformats.org/drawingml/2006/main">
              <a:ext uri="{FF2B5EF4-FFF2-40B4-BE49-F238E27FC236}">
                <a16:creationId xmlns:a16="http://schemas.microsoft.com/office/drawing/2014/main" id="{BDABDD6D-6F26-4499-9636-F0B7C39C4B38}"/>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1825100863"/>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8A8343-ABBA-408A-AC21-BF98F491DD08}"/>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Trial-Struktur und Sitzungsdauer</a:t>
            </a:r>
          </a:p>
        </p:txBody>
      </p:sp>
      <p:sp>
        <p:nvSpPr>
          <p:cNvPr id="2" name="">
            <a:extLst xmlns:a="http://schemas.openxmlformats.org/drawingml/2006/main">
              <a:ext uri="{FF2B5EF4-FFF2-40B4-BE49-F238E27FC236}">
                <a16:creationId xmlns:a16="http://schemas.microsoft.com/office/drawing/2014/main" id="{07DBDF46-A544-4010-BF35-4ACCFAA27CCE}"/>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A14714DE-943F-4904-A504-78ED2811A5E8}"/>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 und Imagery</a:t>
            </a:r>
          </a:p>
        </p:txBody>
      </p:sp>
      <p:sp>
        <p:nvSpPr>
          <p:cNvPr id="4" name="">
            <a:extLst xmlns:a="http://schemas.openxmlformats.org/drawingml/2006/main">
              <a:ext uri="{FF2B5EF4-FFF2-40B4-BE49-F238E27FC236}">
                <a16:creationId xmlns:a16="http://schemas.microsoft.com/office/drawing/2014/main" id="{DBAD8F7A-8E50-433F-B3D4-6600BA57529F}"/>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Fixation, 4 s Aufgabe, anschließend 6–8 s Erholung.</a:t>
            </a:r>
          </a:p>
        </p:txBody>
      </p:sp>
      <p:sp>
        <p:nvSpPr>
          <p:cNvPr id="5" name="">
            <a:extLst xmlns:a="http://schemas.openxmlformats.org/drawingml/2006/main">
              <a:ext uri="{FF2B5EF4-FFF2-40B4-BE49-F238E27FC236}">
                <a16:creationId xmlns:a16="http://schemas.microsoft.com/office/drawing/2014/main" id="{ECF48E51-6050-408B-8F52-3DB7F32687D1}"/>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6" name="">
            <a:extLst xmlns:a="http://schemas.openxmlformats.org/drawingml/2006/main">
              <a:ext uri="{FF2B5EF4-FFF2-40B4-BE49-F238E27FC236}">
                <a16:creationId xmlns:a16="http://schemas.microsoft.com/office/drawing/2014/main" id="{21CFAC3E-C4B9-4FC4-B325-E87A998284C6}"/>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Zahleninstruktion, 10 s stilles Rechnen, anschließend 15–17 s Erholung.</a:t>
            </a:r>
          </a:p>
        </p:txBody>
      </p:sp>
      <p:sp>
        <p:nvSpPr>
          <p:cNvPr id="7" name="">
            <a:extLst xmlns:a="http://schemas.openxmlformats.org/drawingml/2006/main">
              <a:ext uri="{FF2B5EF4-FFF2-40B4-BE49-F238E27FC236}">
                <a16:creationId xmlns:a16="http://schemas.microsoft.com/office/drawing/2014/main" id="{02584F6F-2A52-4065-9BF9-578184895467}"/>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Blöcke und Pausen</a:t>
            </a:r>
          </a:p>
        </p:txBody>
      </p:sp>
      <p:sp>
        <p:nvSpPr>
          <p:cNvPr id="8" name="">
            <a:extLst xmlns:a="http://schemas.openxmlformats.org/drawingml/2006/main">
              <a:ext uri="{FF2B5EF4-FFF2-40B4-BE49-F238E27FC236}">
                <a16:creationId xmlns:a16="http://schemas.microsoft.com/office/drawing/2014/main" id="{EBB86A41-8F7B-4CC4-B283-3DBC4957AF4D}"/>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Kurze Aufgabenblöcke mit 45 s Pause dazwischen. Zwischen Hauptläufen 90 s.</a:t>
            </a:r>
          </a:p>
        </p:txBody>
      </p:sp>
      <p:sp>
        <p:nvSpPr>
          <p:cNvPr id="9" name="">
            <a:extLst xmlns:a="http://schemas.openxmlformats.org/drawingml/2006/main">
              <a:ext uri="{FF2B5EF4-FFF2-40B4-BE49-F238E27FC236}">
                <a16:creationId xmlns:a16="http://schemas.microsoft.com/office/drawing/2014/main" id="{D22D80B6-0F42-4D16-A5C1-6FED1036C63E}"/>
              </a:ext>
            </a:extLst>
          </p:cNvPr>
          <p:cNvSpPr>
            <a:spLocks xmlns:a="http://schemas.openxmlformats.org/drawingml/2006/main" noGrp="1"/>
          </p:cNvSpPr>
          <p:nvPr/>
        </p:nvSpPr>
        <p:spPr>
          <a:xfrm xmlns:a="http://schemas.openxmlformats.org/drawingml/2006/main">
            <a:off x="723900" y="50101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3"/>
                </a:solidFill>
              </a:defRPr>
            </a:defPPr>
          </a:lstStyle>
          <a:p xmlns:a="http://schemas.openxmlformats.org/drawingml/2006/main">
            <a:pPr>
              <a:defRPr sz="2850" b="1">
                <a:solidFill>
                  <a:srgbClr val="087F83"/>
                </a:solidFill>
              </a:defRPr>
            </a:pPr>
            <a:r>
              <a:rPr sz="2850" b="1">
                <a:solidFill>
                  <a:srgbClr val="087F83"/>
                </a:solidFill>
              </a:rPr>
              <a:t>112 Aufgaben-Trials</a:t>
            </a:r>
          </a:p>
        </p:txBody>
      </p:sp>
      <p:sp>
        <p:nvSpPr>
          <p:cNvPr id="10" name="">
            <a:extLst xmlns:a="http://schemas.openxmlformats.org/drawingml/2006/main">
              <a:ext uri="{FF2B5EF4-FFF2-40B4-BE49-F238E27FC236}">
                <a16:creationId xmlns:a16="http://schemas.microsoft.com/office/drawing/2014/main" id="{9F7F4688-FCA9-41BA-A77C-CC7408A66DCC}"/>
              </a:ext>
            </a:extLst>
          </p:cNvPr>
          <p:cNvSpPr>
            <a:spLocks xmlns:a="http://schemas.openxmlformats.org/drawingml/2006/main" noGrp="1"/>
          </p:cNvSpPr>
          <p:nvPr/>
        </p:nvSpPr>
        <p:spPr>
          <a:xfrm xmlns:a="http://schemas.openxmlformats.org/drawingml/2006/main">
            <a:off x="723900" y="5619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29:16 min Messzeit, mit geplanten Zusatzpausen 38:16 min</a:t>
            </a:r>
          </a:p>
          <a:p xmlns:a="http://schemas.openxmlformats.org/drawingml/2006/main">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719107580"/>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6EC48D-0A79-499C-8C63-6E70829399B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Auswertungspipeline</a:t>
            </a:r>
          </a:p>
        </p:txBody>
      </p:sp>
      <p:sp>
        <p:nvSpPr>
          <p:cNvPr id="2" name="">
            <a:extLst xmlns:a="http://schemas.openxmlformats.org/drawingml/2006/main">
              <a:ext uri="{FF2B5EF4-FFF2-40B4-BE49-F238E27FC236}">
                <a16:creationId xmlns:a16="http://schemas.microsoft.com/office/drawing/2014/main" id="{EE765AA0-70E4-44F1-84D0-6F3B4730C0EA}"/>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048F8101-F3EC-48C0-93E9-97780AA9B188}"/>
              </a:ext>
            </a:extLst>
          </p:cNvPr>
          <p:cNvSpPr>
            <a:spLocks xmlns:a="http://schemas.openxmlformats.org/drawingml/2006/main" noGrp="1"/>
          </p:cNvSpPr>
          <p:nvPr/>
        </p:nvSpPr>
        <p:spPr>
          <a:xfrm xmlns:a="http://schemas.openxmlformats.org/drawingml/2006/main">
            <a:off x="704850" y="16954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Import und Sichtung</a:t>
            </a:r>
          </a:p>
        </p:txBody>
      </p:sp>
      <p:sp>
        <p:nvSpPr>
          <p:cNvPr id="4" name="">
            <a:extLst xmlns:a="http://schemas.openxmlformats.org/drawingml/2006/main">
              <a:ext uri="{FF2B5EF4-FFF2-40B4-BE49-F238E27FC236}">
                <a16:creationId xmlns:a16="http://schemas.microsoft.com/office/drawing/2014/main" id="{5EB5EEC3-9ED2-4D74-A8AB-DDFE785250EC}"/>
              </a:ext>
            </a:extLst>
          </p:cNvPr>
          <p:cNvSpPr>
            <a:spLocks xmlns:a="http://schemas.openxmlformats.org/drawingml/2006/main" noGrp="1"/>
          </p:cNvSpPr>
          <p:nvPr/>
        </p:nvSpPr>
        <p:spPr>
          <a:xfrm xmlns:a="http://schemas.openxmlformats.org/drawingml/2006/main">
            <a:off x="3981450" y="16954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EEG-CSV und Marker in MNE laden. Signalverläufe und Frequenzspektren prüfen. Bereits implementiert.</a:t>
            </a:r>
          </a:p>
        </p:txBody>
      </p:sp>
      <p:sp>
        <p:nvSpPr>
          <p:cNvPr id="5" name="">
            <a:extLst xmlns:a="http://schemas.openxmlformats.org/drawingml/2006/main">
              <a:ext uri="{FF2B5EF4-FFF2-40B4-BE49-F238E27FC236}">
                <a16:creationId xmlns:a16="http://schemas.microsoft.com/office/drawing/2014/main" id="{68EF98AF-1C2A-4E6F-AC72-10B26C234702}"/>
              </a:ext>
            </a:extLst>
          </p:cNvPr>
          <p:cNvSpPr>
            <a:spLocks xmlns:a="http://schemas.openxmlformats.org/drawingml/2006/main" noGrp="1"/>
          </p:cNvSpPr>
          <p:nvPr/>
        </p:nvSpPr>
        <p:spPr>
          <a:xfrm xmlns:a="http://schemas.openxmlformats.org/drawingml/2006/main">
            <a:off x="704850" y="27432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Vorverarbeitung</a:t>
            </a:r>
          </a:p>
        </p:txBody>
      </p:sp>
      <p:sp>
        <p:nvSpPr>
          <p:cNvPr id="6" name="">
            <a:extLst xmlns:a="http://schemas.openxmlformats.org/drawingml/2006/main">
              <a:ext uri="{FF2B5EF4-FFF2-40B4-BE49-F238E27FC236}">
                <a16:creationId xmlns:a16="http://schemas.microsoft.com/office/drawing/2014/main" id="{8332AC78-D93D-4D02-842D-08D42AA08177}"/>
              </a:ext>
            </a:extLst>
          </p:cNvPr>
          <p:cNvSpPr>
            <a:spLocks xmlns:a="http://schemas.openxmlformats.org/drawingml/2006/main" noGrp="1"/>
          </p:cNvSpPr>
          <p:nvPr/>
        </p:nvSpPr>
        <p:spPr>
          <a:xfrm xmlns:a="http://schemas.openxmlformats.org/drawingml/2006/main">
            <a:off x="3981450" y="27432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Filter festlegen, schlechte Kanäle und Artefakte prüfen, Aufgabenfenster anhand der Marker bilden.</a:t>
            </a:r>
          </a:p>
        </p:txBody>
      </p:sp>
      <p:sp>
        <p:nvSpPr>
          <p:cNvPr id="7" name="">
            <a:extLst xmlns:a="http://schemas.openxmlformats.org/drawingml/2006/main">
              <a:ext uri="{FF2B5EF4-FFF2-40B4-BE49-F238E27FC236}">
                <a16:creationId xmlns:a16="http://schemas.microsoft.com/office/drawing/2014/main" id="{2117C2F5-4D89-4E47-A17C-1459FD3E5E2C}"/>
              </a:ext>
            </a:extLst>
          </p:cNvPr>
          <p:cNvSpPr>
            <a:spLocks xmlns:a="http://schemas.openxmlformats.org/drawingml/2006/main" noGrp="1"/>
          </p:cNvSpPr>
          <p:nvPr/>
        </p:nvSpPr>
        <p:spPr>
          <a:xfrm xmlns:a="http://schemas.openxmlformats.org/drawingml/2006/main">
            <a:off x="704850" y="37909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Merkmale und Modell</a:t>
            </a:r>
          </a:p>
        </p:txBody>
      </p:sp>
      <p:sp>
        <p:nvSpPr>
          <p:cNvPr id="8" name="">
            <a:extLst xmlns:a="http://schemas.openxmlformats.org/drawingml/2006/main">
              <a:ext uri="{FF2B5EF4-FFF2-40B4-BE49-F238E27FC236}">
                <a16:creationId xmlns:a16="http://schemas.microsoft.com/office/drawing/2014/main" id="{E5B2101E-BD91-4A71-9E22-62D6D9E738D2}"/>
              </a:ext>
            </a:extLst>
          </p:cNvPr>
          <p:cNvSpPr>
            <a:spLocks xmlns:a="http://schemas.openxmlformats.org/drawingml/2006/main" noGrp="1"/>
          </p:cNvSpPr>
          <p:nvPr/>
        </p:nvSpPr>
        <p:spPr>
          <a:xfrm xmlns:a="http://schemas.openxmlformats.org/drawingml/2006/main">
            <a:off x="3981450" y="37909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Zunächst Bandpower oder CSP, anschließend LDA oder SVM für paarweise Aufgabenvergleiche.</a:t>
            </a:r>
          </a:p>
        </p:txBody>
      </p:sp>
      <p:sp>
        <p:nvSpPr>
          <p:cNvPr id="9" name="">
            <a:extLst xmlns:a="http://schemas.openxmlformats.org/drawingml/2006/main">
              <a:ext uri="{FF2B5EF4-FFF2-40B4-BE49-F238E27FC236}">
                <a16:creationId xmlns:a16="http://schemas.microsoft.com/office/drawing/2014/main" id="{211928A1-461D-4649-9615-948D4FC4FC30}"/>
              </a:ext>
            </a:extLst>
          </p:cNvPr>
          <p:cNvSpPr>
            <a:spLocks xmlns:a="http://schemas.openxmlformats.org/drawingml/2006/main" noGrp="1"/>
          </p:cNvSpPr>
          <p:nvPr/>
        </p:nvSpPr>
        <p:spPr>
          <a:xfrm xmlns:a="http://schemas.openxmlformats.org/drawingml/2006/main">
            <a:off x="704850" y="48387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4  Bewertung</a:t>
            </a:r>
          </a:p>
        </p:txBody>
      </p:sp>
      <p:sp>
        <p:nvSpPr>
          <p:cNvPr id="10" name="">
            <a:extLst xmlns:a="http://schemas.openxmlformats.org/drawingml/2006/main">
              <a:ext uri="{FF2B5EF4-FFF2-40B4-BE49-F238E27FC236}">
                <a16:creationId xmlns:a16="http://schemas.microsoft.com/office/drawing/2014/main" id="{1114535A-FF8A-4C4F-9082-A4A14E943709}"/>
              </a:ext>
            </a:extLst>
          </p:cNvPr>
          <p:cNvSpPr>
            <a:spLocks xmlns:a="http://schemas.openxmlformats.org/drawingml/2006/main" noGrp="1"/>
          </p:cNvSpPr>
          <p:nvPr/>
        </p:nvSpPr>
        <p:spPr>
          <a:xfrm xmlns:a="http://schemas.openxmlformats.org/drawingml/2006/main">
            <a:off x="3981450" y="48387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Balanced Accuracy und Konfusionsmatrix. Ganze Trials oder Blöcke für unabhängige Tests zurückhalten.</a:t>
            </a:r>
          </a:p>
        </p:txBody>
      </p:sp>
    </p:spTree>
    <p:extLst>
      <p:ext uri="{BB962C8B-B14F-4D97-AF65-F5344CB8AC3E}">
        <p14:creationId xmlns:p14="http://schemas.microsoft.com/office/powerpoint/2010/main" val="1460075297"/>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BC3DBE-934F-4585-A807-E20200F78F0A}"/>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Nächster Schritt: Datenerhebung</a:t>
            </a:r>
          </a:p>
        </p:txBody>
      </p:sp>
      <p:sp>
        <p:nvSpPr>
          <p:cNvPr id="2" name="">
            <a:extLst xmlns:a="http://schemas.openxmlformats.org/drawingml/2006/main">
              <a:ext uri="{FF2B5EF4-FFF2-40B4-BE49-F238E27FC236}">
                <a16:creationId xmlns:a16="http://schemas.microsoft.com/office/drawing/2014/main" id="{43BDC638-9CE6-453D-BB33-134D797FF928}"/>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87863164-1DB7-40E2-8A0B-8CA3F6AA2487}"/>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Erster Lauf am Montag, 19. Oktober 2026</a:t>
            </a:r>
          </a:p>
        </p:txBody>
      </p:sp>
      <p:sp>
        <p:nvSpPr>
          <p:cNvPr id="4" name="">
            <a:extLst xmlns:a="http://schemas.openxmlformats.org/drawingml/2006/main">
              <a:ext uri="{FF2B5EF4-FFF2-40B4-BE49-F238E27FC236}">
                <a16:creationId xmlns:a16="http://schemas.microsoft.com/office/drawing/2014/main" id="{100ACAAF-74E4-4536-95A0-BF832C02E789}"/>
              </a:ext>
            </a:extLst>
          </p:cNvPr>
          <p:cNvSpPr>
            <a:spLocks xmlns:a="http://schemas.openxmlformats.org/drawingml/2006/main" noGrp="1"/>
          </p:cNvSpPr>
          <p:nvPr/>
        </p:nvSpPr>
        <p:spPr>
          <a:xfrm xmlns:a="http://schemas.openxmlformats.org/drawingml/2006/main">
            <a:off x="704850" y="3038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Vorbereitung</a:t>
            </a:r>
          </a:p>
        </p:txBody>
      </p:sp>
      <p:sp>
        <p:nvSpPr>
          <p:cNvPr id="5" name="">
            <a:extLst xmlns:a="http://schemas.openxmlformats.org/drawingml/2006/main">
              <a:ext uri="{FF2B5EF4-FFF2-40B4-BE49-F238E27FC236}">
                <a16:creationId xmlns:a16="http://schemas.microsoft.com/office/drawing/2014/main" id="{867A3ED4-9A27-45C8-8FE4-EF3F648AC7A5}"/>
              </a:ext>
            </a:extLst>
          </p:cNvPr>
          <p:cNvSpPr>
            <a:spLocks xmlns:a="http://schemas.openxmlformats.org/drawingml/2006/main" noGrp="1"/>
          </p:cNvSpPr>
          <p:nvPr/>
        </p:nvSpPr>
        <p:spPr>
          <a:xfrm xmlns:a="http://schemas.openxmlformats.org/drawingml/2006/main">
            <a:off x="3981450" y="3038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
            <a:extLst xmlns:a="http://schemas.openxmlformats.org/drawingml/2006/main">
              <a:ext uri="{FF2B5EF4-FFF2-40B4-BE49-F238E27FC236}">
                <a16:creationId xmlns:a16="http://schemas.microsoft.com/office/drawing/2014/main" id="{8621A9B2-71B2-405F-8E18-567FA1EA3087}"/>
              </a:ext>
            </a:extLst>
          </p:cNvPr>
          <p:cNvSpPr>
            <a:spLocks xmlns:a="http://schemas.openxmlformats.org/drawingml/2006/main" noGrp="1"/>
          </p:cNvSpPr>
          <p:nvPr/>
        </p:nvSpPr>
        <p:spPr>
          <a:xfrm xmlns:a="http://schemas.openxmlformats.org/drawingml/2006/main">
            <a:off x="704850" y="4086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Erste Aufnahme</a:t>
            </a:r>
          </a:p>
        </p:txBody>
      </p:sp>
      <p:sp>
        <p:nvSpPr>
          <p:cNvPr id="7" name="">
            <a:extLst xmlns:a="http://schemas.openxmlformats.org/drawingml/2006/main">
              <a:ext uri="{FF2B5EF4-FFF2-40B4-BE49-F238E27FC236}">
                <a16:creationId xmlns:a16="http://schemas.microsoft.com/office/drawing/2014/main" id="{1237F0C8-C751-499C-826E-1B3350B70CE2}"/>
              </a:ext>
            </a:extLst>
          </p:cNvPr>
          <p:cNvSpPr>
            <a:spLocks xmlns:a="http://schemas.openxmlformats.org/drawingml/2006/main" noGrp="1"/>
          </p:cNvSpPr>
          <p:nvPr/>
        </p:nvSpPr>
        <p:spPr>
          <a:xfrm xmlns:a="http://schemas.openxmlformats.org/drawingml/2006/main">
            <a:off x="3981450" y="4086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
            <a:extLst xmlns:a="http://schemas.openxmlformats.org/drawingml/2006/main">
              <a:ext uri="{FF2B5EF4-FFF2-40B4-BE49-F238E27FC236}">
                <a16:creationId xmlns:a16="http://schemas.microsoft.com/office/drawing/2014/main" id="{F6F97330-068D-4EBA-8885-A0A103C113BC}"/>
              </a:ext>
            </a:extLst>
          </p:cNvPr>
          <p:cNvSpPr>
            <a:spLocks xmlns:a="http://schemas.openxmlformats.org/drawingml/2006/main" noGrp="1"/>
          </p:cNvSpPr>
          <p:nvPr/>
        </p:nvSpPr>
        <p:spPr>
          <a:xfrm xmlns:a="http://schemas.openxmlformats.org/drawingml/2006/main">
            <a:off x="704850" y="5133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Direkte Nachkontrolle</a:t>
            </a:r>
          </a:p>
        </p:txBody>
      </p:sp>
      <p:sp>
        <p:nvSpPr>
          <p:cNvPr id="9" name="">
            <a:extLst xmlns:a="http://schemas.openxmlformats.org/drawingml/2006/main">
              <a:ext uri="{FF2B5EF4-FFF2-40B4-BE49-F238E27FC236}">
                <a16:creationId xmlns:a16="http://schemas.microsoft.com/office/drawing/2014/main" id="{DAAE7DB5-1C04-4E99-A875-199D42581E7A}"/>
              </a:ext>
            </a:extLst>
          </p:cNvPr>
          <p:cNvSpPr>
            <a:spLocks xmlns:a="http://schemas.openxmlformats.org/drawingml/2006/main" noGrp="1"/>
          </p:cNvSpPr>
          <p:nvPr/>
        </p:nvSpPr>
        <p:spPr>
          <a:xfrm xmlns:a="http://schemas.openxmlformats.org/drawingml/2006/main">
            <a:off x="3981450" y="5133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1064748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2026-10-15T13:54:18.8500000Z</dcterms:created>
  <dcterms:modified xsi:type="dcterms:W3CDTF">2026-10-15T13:54:18.8500000Z</dcterms:modified>
</coreProperties>
</file>