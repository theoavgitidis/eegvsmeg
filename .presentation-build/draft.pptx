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c1420a6efd4f20" /><Relationship Type="http://schemas.openxmlformats.org/officeDocument/2006/relationships/extended-properties" Target="/docProps/app.xml" Id="R9bec9f6ede3544bc" /><Relationship Type="http://schemas.openxmlformats.org/officeDocument/2006/relationships/officeDocument" Target="/ppt/presentation.xml" Id="R46bd62f7b0c243cb" /></Relationships>
</file>

<file path=ppt/presentation.xml><?xml version="1.0" encoding="utf-8"?>
<p:presentation xmlns:p="http://schemas.openxmlformats.org/presentationml/2006/main">
  <p:sldMasterIdLst>
    <p:sldMasterId xmlns:r="http://schemas.openxmlformats.org/officeDocument/2006/relationships" id="2147483648" r:id="R83c48dd2b72c49a3"/>
  </p:sldMasterIdLst>
  <p:notesMasterIdLst>
    <p:notesMasterId xmlns:r="http://schemas.openxmlformats.org/officeDocument/2006/relationships" r:id="Rb4ed61bfe7d34209"/>
  </p:notesMasterIdLst>
  <p:sldIdLst>
    <p:sldId xmlns:r="http://schemas.openxmlformats.org/officeDocument/2006/relationships" id="256" r:id="R8e0a38c5acf04c8f"/>
    <p:sldId xmlns:r="http://schemas.openxmlformats.org/officeDocument/2006/relationships" id="257" r:id="R2278fba24e5c443a"/>
    <p:sldId xmlns:r="http://schemas.openxmlformats.org/officeDocument/2006/relationships" id="258" r:id="R50a504d69a1f4aa8"/>
    <p:sldId xmlns:r="http://schemas.openxmlformats.org/officeDocument/2006/relationships" id="259" r:id="R1cf18011ca5f4f1a"/>
    <p:sldId xmlns:r="http://schemas.openxmlformats.org/officeDocument/2006/relationships" id="260" r:id="R371aeb9a102044f6"/>
    <p:sldId xmlns:r="http://schemas.openxmlformats.org/officeDocument/2006/relationships" id="261" r:id="Ra58d2716135c463d"/>
    <p:sldId xmlns:r="http://schemas.openxmlformats.org/officeDocument/2006/relationships" id="262" r:id="R965338b0e8c54c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4677f1ca8a4948" /><Relationship Type="http://schemas.openxmlformats.org/officeDocument/2006/relationships/slideMaster" Target="/ppt/slideMasters/slideMaster1.xml" Id="R83c48dd2b72c49a3" /><Relationship Type="http://schemas.openxmlformats.org/officeDocument/2006/relationships/notesMaster" Target="/ppt/notesMasters/notesMaster1.xml" Id="Rb4ed61bfe7d34209" /><Relationship Type="http://schemas.openxmlformats.org/officeDocument/2006/relationships/presProps" Target="/ppt/presProps.xml" Id="R85705da53f3d47a2" /><Relationship Type="http://schemas.openxmlformats.org/officeDocument/2006/relationships/tableStyles" Target="/ppt/tableStyles.xml" Id="Rd9a8ff6ed0a94773" /><Relationship Type="http://schemas.openxmlformats.org/officeDocument/2006/relationships/slide" Target="/ppt/slides/slide1.xml" Id="R8e0a38c5acf04c8f" /><Relationship Type="http://schemas.openxmlformats.org/officeDocument/2006/relationships/slide" Target="/ppt/slides/slide2.xml" Id="R2278fba24e5c443a" /><Relationship Type="http://schemas.openxmlformats.org/officeDocument/2006/relationships/slide" Target="/ppt/slides/slide3.xml" Id="R50a504d69a1f4aa8" /><Relationship Type="http://schemas.openxmlformats.org/officeDocument/2006/relationships/slide" Target="/ppt/slides/slide4.xml" Id="R1cf18011ca5f4f1a" /><Relationship Type="http://schemas.openxmlformats.org/officeDocument/2006/relationships/slide" Target="/ppt/slides/slide5.xml" Id="R371aeb9a102044f6" /><Relationship Type="http://schemas.openxmlformats.org/officeDocument/2006/relationships/slide" Target="/ppt/slides/slide6.xml" Id="Ra58d2716135c463d" /><Relationship Type="http://schemas.openxmlformats.org/officeDocument/2006/relationships/slide" Target="/ppt/slides/slide7.xml" Id="R965338b0e8c54c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7b6ba6b4ae44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888993f77d40a7" /><Relationship Type="http://schemas.openxmlformats.org/officeDocument/2006/relationships/notesMaster" Target="/ppt/notesMasters/notesMaster1.xml" Id="Rc2190608351c42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923c313b0549f5" /><Relationship Type="http://schemas.openxmlformats.org/officeDocument/2006/relationships/notesMaster" Target="/ppt/notesMasters/notesMaster1.xml" Id="Rca9c8ffddc2a48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1ca047a0354a43" /><Relationship Type="http://schemas.openxmlformats.org/officeDocument/2006/relationships/notesMaster" Target="/ppt/notesMasters/notesMaster1.xml" Id="Rdcf2e9c27c1e4d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3806a57d6d43dd" /><Relationship Type="http://schemas.openxmlformats.org/officeDocument/2006/relationships/notesMaster" Target="/ppt/notesMasters/notesMaster1.xml" Id="R6bd31c31349b43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0fe522f1334b2c" /><Relationship Type="http://schemas.openxmlformats.org/officeDocument/2006/relationships/notesMaster" Target="/ppt/notesMasters/notesMaster1.xml" Id="R03835763f3c64d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fa31f3021e4926" /><Relationship Type="http://schemas.openxmlformats.org/officeDocument/2006/relationships/notesMaster" Target="/ppt/notesMasters/notesMaster1.xml" Id="R622509a564da49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f0d1bf694d48e6" /><Relationship Type="http://schemas.openxmlformats.org/officeDocument/2006/relationships/notesMaster" Target="/ppt/notesMasters/notesMaster1.xml" Id="R94d74249ae724e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investigates which motor and cognitive tasks a practical EEG setup can distinguish, with MEG task paradigms as a reference. The current implementation supports recording and inspection. A completed EEG–MEG performance comparison is not established by the project files.</a:t>
            </a:r>
          </a:p>
          <a:p xmlns:a="http://schemas.openxmlformats.org/drawingml/2006/main">
            <a:r>
              <a:t/>
            </a:r>
          </a:p>
          <a:p xmlns:a="http://schemas.openxmlformats.org/drawingml/2006/main">
            <a:r>
              <a:t>Project sources:</a:t>
            </a:r>
          </a:p>
          <a:p xmlns:a="http://schemas.openxmlformats.org/drawingml/2006/main">
            <a:r>
              <a:t>/Users/theoa/Desktop/Projects/EEGvsMEG/docs/planned-experiments.md</a:t>
            </a:r>
          </a:p>
          <a:p xmlns:a="http://schemas.openxmlformats.org/drawingml/2006/main">
            <a:r>
              <a:t>/Users/theoa/Desktop/Projects/EEGvsMEG/docs/Einwilligungserklaerung_EEG-Studie.html</a:t>
            </a:r>
          </a:p>
          <a:p xmlns:a="http://schemas.openxmlformats.org/drawingml/2006/main">
            <a:r>
              <a:t>/Users/theoa/Desktop/Projects/EEGvsMEG/gtec_Clib/terminal/README.md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study plan references MEGBCI2020 and includes word generation. The newer protocol dated 13 October focuses the pilot on movement, imagery, blinking and serial subtraction. Treat the latest protocol as the current pilot proposal. No classifier, MEG processing pipeline or microcontroller control implementation appears in the inspected project.</a:t>
            </a:r>
          </a:p>
          <a:p xmlns:a="http://schemas.openxmlformats.org/drawingml/2006/main">
            <a:r>
              <a:t/>
            </a:r>
          </a:p>
          <a:p xmlns:a="http://schemas.openxmlformats.org/drawingml/2006/main">
            <a:r>
              <a:t>Project sources:</a:t>
            </a:r>
          </a:p>
          <a:p xmlns:a="http://schemas.openxmlformats.org/drawingml/2006/main">
            <a:r>
              <a:t>/Users/theoa/Desktop/Projects/EEGvsMEG/docs/planned-experiments.md</a:t>
            </a:r>
          </a:p>
          <a:p xmlns:a="http://schemas.openxmlformats.org/drawingml/2006/main">
            <a:r>
              <a:t>/Users/theoa/Desktop/Projects/EEGvsMEG/docs/experiment-protocol.md</a:t>
            </a:r>
          </a:p>
          <a:p xmlns:a="http://schemas.openxmlformats.org/drawingml/2006/main">
            <a:r>
              <a:t>/Users/theoa/Desktop/Projects/EEGvsMEG/analysis/view_eeg.py</a:t>
            </a:r>
          </a:p>
          <a:p xmlns:a="http://schemas.openxmlformats.org/drawingml/2006/main">
            <a:r>
              <a:t>/Users/theoa/Desktop/Projects/EEGvsMEG/gtec_Clib/terminal/main.cpp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terminal covers the supplied Unicorn API: version and error information, Bluetooth adapter information, paired/unpaired discovery, open/close, device information, channel configuration and index lookup, acquisition, data export, and optional digital output read/write. Digital outputs depend on device support. Production acquisition requires 64-bit Windows, the vendor DLL, Bluetooth and a compatible headset. Background recording reads blocks continuously and reports counter discontinuities plus battery and validation values if enabled. These values do not constitute a validated signal-quality score.</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/Users/theoa/Desktop/Projects/EEGvsMEG/gtec_Clib/terminal/recorder.h</a:t>
            </a:r>
          </a:p>
          <a:p xmlns:a="http://schemas.openxmlformats.org/drawingml/2006/main">
            <a:r>
              <a:t>/Users/theoa/Desktop/Projects/EEGvsMEG/gtec_Clib/terminal/README.md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participant window supports a fixation cross, German hand/leg instructions, parameterised serial subtraction, arbitrary text and fullscreen mode. Marker labels can contain spaces and quotes. Markers use host timing and received sample counts. They indicate command processing and approximate sample positions, not exact stimulus onset or precise EEG–MEG synchronisation. Cues and timing are operator-driven. An automated trial scheduler is not implemented. Experiment names support Unicode and spaces, with checks against invalid names and paths.</a:t>
            </a:r>
          </a:p>
          <a:p xmlns:a="http://schemas.openxmlformats.org/drawingml/2006/main">
            <a:r>
              <a:t/>
            </a:r>
          </a:p>
          <a:p xmlns:a="http://schemas.openxmlformats.org/drawingml/2006/main">
            <a:r>
              <a:t>Project sources:</a:t>
            </a:r>
          </a:p>
          <a:p xmlns:a="http://schemas.openxmlformats.org/drawingml/2006/main">
            <a:r>
              <a:t>/Users/theoa/Desktop/Projects/EEGvsMEG/gtec_Clib/terminal/cues.h</a:t>
            </a:r>
          </a:p>
          <a:p xmlns:a="http://schemas.openxmlformats.org/drawingml/2006/main">
            <a:r>
              <a:t>/Users/theoa/Desktop/Projects/EEGvsMEG/gtec_Clib/terminal/experiments.h</a:t>
            </a:r>
          </a:p>
          <a:p xmlns:a="http://schemas.openxmlformats.org/drawingml/2006/main">
            <a:r>
              <a:t>/Users/theoa/Desktop/Projects/EEGvsMEG/gtec_Clib/terminal/recorder.h</a:t>
            </a:r>
          </a:p>
          <a:p xmlns:a="http://schemas.openxmlformats.org/drawingml/2006/main">
            <a:r>
              <a:t>/Users/theoa/Desktop/Projects/EEGvsMEG/gtec_Clib/terminal/main.cpp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viewer accepts EEG 1–8 columns, asks explicitly for the recorded unit and converts values to volts for MNE. It imports event positions approximately from samples_received / 250. Optional filtering uses a 50 Hz notch and 0.5–30 Hz bandpass on a copy, preserving the CSV. It provides Welch frequency spectra. It does not implement artifact correction, feature extraction or classification. The hardware-free integration suite passed on 15 October 2026 in this workspace. It covers Unicode experiment names, path validation, switching guards, manual export, timed recording, CSV quoting, exclusive API access, overwrite prevention, continuous stop and simulated connection failure. This does not verify Bluetooth or real headset behaviour.</a:t>
            </a:r>
          </a:p>
          <a:p xmlns:a="http://schemas.openxmlformats.org/drawingml/2006/main">
            <a:r>
              <a:t/>
            </a:r>
          </a:p>
          <a:p xmlns:a="http://schemas.openxmlformats.org/drawingml/2006/main">
            <a:r>
              <a:t>Project sources:</a:t>
            </a:r>
          </a:p>
          <a:p xmlns:a="http://schemas.openxmlformats.org/drawingml/2006/main">
            <a:r>
              <a:t>/Users/theoa/Desktop/Projects/EEGvsMEG/analysis/view_eeg.py</a:t>
            </a:r>
          </a:p>
          <a:p xmlns:a="http://schemas.openxmlformats.org/drawingml/2006/main">
            <a:r>
              <a:t>/Users/theoa/Desktop/Projects/EEGvsMEG/gtec_Clib/terminal/test_recorder.py</a:t>
            </a:r>
          </a:p>
          <a:p xmlns:a="http://schemas.openxmlformats.org/drawingml/2006/main">
            <a:r>
              <a:t>/Users/theoa/Desktop/Projects/EEGvsMEG/gtec_Clib/terminal/mock_api.cpp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13 October protocol is a proposed design, not an implemented automatic experiment. It specifies 60 physical-movement/blink trials, 40 imagery trials and 12 arithmetic trials, plus 60-second opening and closing baselines. Measurement totals 29:16 including within-trial recovery. Additional breaks total 9 minutes, giving 38:16 before setup, instruction and practice. The proposal specifies balanced task counts, randomisation constraints, saved seeds, trial lists and counterbalanced run orders. These remain protocol requirements rather than coded scheduler features. Word generation appears in earlier planning and is absent from the latest pilot. The participant information and consent document is prepared material, not evidence of institutional approval.</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a:p xmlns:a="http://schemas.openxmlformats.org/drawingml/2006/main">
            <a:r>
              <a:t>/Users/theoa/Desktop/Projects/EEGvsMEG/docs/planned-experiments.md</a:t>
            </a:r>
          </a:p>
          <a:p xmlns:a="http://schemas.openxmlformats.org/drawingml/2006/main">
            <a:r>
              <a:t>/Users/theoa/Desktop/Projects/EEGvsMEG/docs/plannedExperiments/README.md</a:t>
            </a:r>
          </a:p>
          <a:p xmlns:a="http://schemas.openxmlformats.org/drawingml/2006/main">
            <a:r>
              <a:t>/Users/theoa/Desktop/Projects/EEGvsMEG/docs/manual/unicorn-hybrid-black-and-suite-summary.md</a:t>
            </a:r>
          </a:p>
          <a:p xmlns:a="http://schemas.openxmlformats.org/drawingml/2006/main">
            <a:r>
              <a:t>/Users/theoa/Desktop/Projects/EEGvsMEG/docs/Einwilligungserklaerung_EEG-Studie.html</a:t>
            </a:r>
          </a:p>
          <a:p xmlns:a="http://schemas.openxmlformats.org/drawingml/2006/main">
            <a:r>
              <a:t>/Users/theoa/Desktop/Projects/EEGvsMEG/gtec_Clib/terminal/VERWENDUNG.md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tools provide a foundation for acquisition and visual inspection. They do not establish classification accuracy, validated neural effects or MEG equivalence. Physical movement and blinking can introduce muscle, movement and eye signals, so interpretation needs appropriate artifact handling. The protocol recommends keeping segments from the same trial together during evaluation and holding out entire participants for claims about new people. Precise synchronisation requires additional validation and potentially external timing hardware. Microcontroller control remains an application aim in the consent material, with no implementation found in the current project.</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a:p xmlns:a="http://schemas.openxmlformats.org/drawingml/2006/main">
            <a:r>
              <a:t>/Users/theoa/Desktop/Projects/EEGvsMEG/docs/Einwilligungserklaerung_EEG-Studie.html</a:t>
            </a:r>
          </a:p>
          <a:p xmlns:a="http://schemas.openxmlformats.org/drawingml/2006/main">
            <a:r>
              <a:t>/Users/theoa/Desktop/Projects/EEGvsMEG/gtec_Clib/terminal/README.md</a:t>
            </a:r>
          </a:p>
          <a:p xmlns:a="http://schemas.openxmlformats.org/drawingml/2006/main">
            <a:r>
              <a:t>/Users/theoa/Desktop/Projects/EEGvsMEG/analysis/view_eeg.py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c51711751543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f586ceb0ae43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54824c2c2a4f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37d104d53441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df8cede39b40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ecc8ee363b43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365402-8CB2-4089-868A-1CB3B2CEC0F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EC7813-9DDD-42A0-BF95-83A5E579643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3FA629A-D8C6-419B-BDFB-A7F461D4B5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EF9A61-EC87-4D80-8882-1F36217A80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4C1FAF-27FB-4555-BEEF-0DB922E2EE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3648700-728D-4F6F-8384-2F1019A9DF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E61DF0-7D88-46C3-BA64-B246BCF7A0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CDF9B25-6402-4CCC-8DCA-C3E86EA8BC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17CB16-B481-4A4F-8242-DA260970BA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CFAB3B-9731-42F7-8977-7F896C0E2D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d9f2ff66094ff8" /><Relationship Type="http://schemas.openxmlformats.org/officeDocument/2006/relationships/slideLayout" Target="/ppt/slideLayouts/slideLayout1.xml" Id="R02279d4284084e0c" /><Relationship Type="http://schemas.openxmlformats.org/officeDocument/2006/relationships/slideLayout" Target="/ppt/slideLayouts/slideLayout2.xml" Id="Rfa27723c7b0a4814" /><Relationship Type="http://schemas.openxmlformats.org/officeDocument/2006/relationships/slideLayout" Target="/ppt/slideLayouts/slideLayout3.xml" Id="R3791917bc75742f0" /><Relationship Type="http://schemas.openxmlformats.org/officeDocument/2006/relationships/slideLayout" Target="/ppt/slideLayouts/slideLayout4.xml" Id="Rb61933dc8a674701" /><Relationship Type="http://schemas.openxmlformats.org/officeDocument/2006/relationships/slideLayout" Target="/ppt/slideLayouts/slideLayout5.xml" Id="Rb4a93793df054912" /><Relationship Type="http://schemas.openxmlformats.org/officeDocument/2006/relationships/slideLayout" Target="/ppt/slideLayouts/slideLayout6.xml" Id="R269c0df6d2b648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279d4284084e0c"/>
    <p:sldLayoutId xmlns:r="http://schemas.openxmlformats.org/officeDocument/2006/relationships" id="2147483650" r:id="Rfa27723c7b0a4814"/>
    <p:sldLayoutId xmlns:r="http://schemas.openxmlformats.org/officeDocument/2006/relationships" id="2147483651" r:id="R3791917bc75742f0"/>
    <p:sldLayoutId xmlns:r="http://schemas.openxmlformats.org/officeDocument/2006/relationships" id="2147483652" r:id="Rb61933dc8a674701"/>
    <p:sldLayoutId xmlns:r="http://schemas.openxmlformats.org/officeDocument/2006/relationships" id="2147483653" r:id="Rb4a93793df054912"/>
    <p:sldLayoutId xmlns:r="http://schemas.openxmlformats.org/officeDocument/2006/relationships" id="2147483654" r:id="R269c0df6d2b648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eda9d8b5de4a36" /><Relationship Type="http://schemas.openxmlformats.org/officeDocument/2006/relationships/notesSlide" Target="/ppt/notesSlides/notesSlide1.xml" Id="R029f0d98de1c40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e3969dd20445a9" /><Relationship Type="http://schemas.openxmlformats.org/officeDocument/2006/relationships/notesSlide" Target="/ppt/notesSlides/notesSlide2.xml" Id="Rd94797a7673d4e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1855061ff549d3" /><Relationship Type="http://schemas.openxmlformats.org/officeDocument/2006/relationships/notesSlide" Target="/ppt/notesSlides/notesSlide3.xml" Id="Rcc29e0ae9a5d4f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5ae12146a1e4c6d" /><Relationship Type="http://schemas.openxmlformats.org/officeDocument/2006/relationships/notesSlide" Target="/ppt/notesSlides/notesSlide4.xml" Id="Rda6b3e14446441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cdc6f693a94fef" /><Relationship Type="http://schemas.openxmlformats.org/officeDocument/2006/relationships/notesSlide" Target="/ppt/notesSlides/notesSlide5.xml" Id="R010283c3b1fb4a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1a8a936c52243e3" /><Relationship Type="http://schemas.openxmlformats.org/officeDocument/2006/relationships/notesSlide" Target="/ppt/notesSlides/notesSlide6.xml" Id="Rdf60490eb7484a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c595af45de749e6" /><Relationship Type="http://schemas.openxmlformats.org/officeDocument/2006/relationships/notesSlide" Target="/ppt/notesSlides/notesSlide7.xml" Id="R74f0a118aac54e56" /></Relationships>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FB6760-27D5-4C25-9604-77F83825FDE5}"/>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EEG vs MEG</a:t>
            </a:r>
          </a:p>
        </p:txBody>
      </p:sp>
      <p:sp>
        <p:nvSpPr>
          <p:cNvPr id="2" name="">
            <a:extLst xmlns:a="http://schemas.openxmlformats.org/drawingml/2006/main">
              <a:ext uri="{FF2B5EF4-FFF2-40B4-BE49-F238E27FC236}">
                <a16:creationId xmlns:a16="http://schemas.microsoft.com/office/drawing/2014/main" id="{C77302FD-D11B-43EC-957F-F24DE8FC088B}"/>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01</a:t>
            </a:r>
          </a:p>
        </p:txBody>
      </p:sp>
      <p:sp>
        <p:nvSpPr>
          <p:cNvPr id="3" name="">
            <a:extLst xmlns:a="http://schemas.openxmlformats.org/drawingml/2006/main">
              <a:ext uri="{FF2B5EF4-FFF2-40B4-BE49-F238E27FC236}">
                <a16:creationId xmlns:a16="http://schemas.microsoft.com/office/drawing/2014/main" id="{A7211635-705F-43D5-A6A0-372F8DAE59A7}"/>
              </a:ext>
            </a:extLst>
          </p:cNvPr>
          <p:cNvSpPr>
            <a:spLocks xmlns:a="http://schemas.openxmlformats.org/drawingml/2006/main" noGrp="1"/>
          </p:cNvSpPr>
          <p:nvPr/>
        </p:nvSpPr>
        <p:spPr>
          <a:xfrm xmlns:a="http://schemas.openxmlformats.org/drawingml/2006/main">
            <a:off x="704850" y="22383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142B3B"/>
                </a:solidFill>
              </a:defRPr>
            </a:defPPr>
          </a:lstStyle>
          <a:p xmlns:a="http://schemas.openxmlformats.org/drawingml/2006/main">
            <a:pPr>
              <a:defRPr sz="4350" b="1">
                <a:solidFill>
                  <a:srgbClr val="142B3B"/>
                </a:solidFill>
              </a:defRPr>
            </a:pPr>
            <a:r>
              <a:rPr sz="4350" b="1">
                <a:solidFill>
                  <a:srgbClr val="142B3B"/>
                </a:solidFill>
              </a:rPr>
              <a:t>Implementation progress</a:t>
            </a:r>
          </a:p>
        </p:txBody>
      </p:sp>
      <p:sp>
        <p:nvSpPr>
          <p:cNvPr id="4" name="">
            <a:extLst xmlns:a="http://schemas.openxmlformats.org/drawingml/2006/main">
              <a:ext uri="{FF2B5EF4-FFF2-40B4-BE49-F238E27FC236}">
                <a16:creationId xmlns:a16="http://schemas.microsoft.com/office/drawing/2014/main" id="{414C0FEC-C03F-44F5-AD69-DF34382DE1BD}"/>
              </a:ext>
            </a:extLst>
          </p:cNvPr>
          <p:cNvSpPr>
            <a:spLocks xmlns:a="http://schemas.openxmlformats.org/drawingml/2006/main" noGrp="1"/>
          </p:cNvSpPr>
          <p:nvPr/>
        </p:nvSpPr>
        <p:spPr>
          <a:xfrm xmlns:a="http://schemas.openxmlformats.org/drawingml/2006/main">
            <a:off x="723900" y="324802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435563"/>
                </a:solidFill>
              </a:defRPr>
            </a:defPPr>
          </a:lstStyle>
          <a:p xmlns:a="http://schemas.openxmlformats.org/drawingml/2006/main">
            <a:pPr>
              <a:defRPr sz="2400" b="0">
                <a:solidFill>
                  <a:srgbClr val="435563"/>
                </a:solidFill>
              </a:defRPr>
            </a:pPr>
            <a:r>
              <a:rPr sz="2400" b="0">
                <a:solidFill>
                  <a:srgbClr val="435563"/>
                </a:solidFill>
              </a:rPr>
              <a:t>EEG acquisition and experiment preparation</a:t>
            </a:r>
          </a:p>
        </p:txBody>
      </p:sp>
      <p:sp>
        <p:nvSpPr>
          <p:cNvPr id="5" name="">
            <a:extLst xmlns:a="http://schemas.openxmlformats.org/drawingml/2006/main">
              <a:ext uri="{FF2B5EF4-FFF2-40B4-BE49-F238E27FC236}">
                <a16:creationId xmlns:a16="http://schemas.microsoft.com/office/drawing/2014/main" id="{29B86CDF-0012-4D60-A6B2-15E335DCB6D7}"/>
              </a:ext>
            </a:extLst>
          </p:cNvPr>
          <p:cNvSpPr>
            <a:spLocks xmlns:a="http://schemas.openxmlformats.org/drawingml/2006/main" noGrp="1"/>
          </p:cNvSpPr>
          <p:nvPr/>
        </p:nvSpPr>
        <p:spPr>
          <a:xfrm xmlns:a="http://schemas.openxmlformats.org/drawingml/2006/main">
            <a:off x="723900" y="504825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Theodoros Avgitidis</a:t>
            </a:r>
          </a:p>
          <a:p xmlns:a="http://schemas.openxmlformats.org/drawingml/2006/main">
            <a:pPr>
              <a:defRPr sz="1875" b="0">
                <a:solidFill>
                  <a:srgbClr val="087F83"/>
                </a:solidFill>
              </a:defRPr>
            </a:pPr>
            <a:r>
              <a:rPr sz="1875" b="0">
                <a:solidFill>
                  <a:srgbClr val="087F83"/>
                </a:solidFill>
              </a:rPr>
              <a:t>15 October 2026</a:t>
            </a:r>
          </a:p>
        </p:txBody>
      </p:sp>
    </p:spTree>
    <p:extLst>
      <p:ext uri="{BB962C8B-B14F-4D97-AF65-F5344CB8AC3E}">
        <p14:creationId xmlns:p14="http://schemas.microsoft.com/office/powerpoint/2010/main" val="1669105720"/>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3D59DC-5317-496C-8BE9-9D6A08586B5C}"/>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Project aim and current scope</a:t>
            </a:r>
          </a:p>
        </p:txBody>
      </p:sp>
      <p:sp>
        <p:nvSpPr>
          <p:cNvPr id="2" name="">
            <a:extLst xmlns:a="http://schemas.openxmlformats.org/drawingml/2006/main">
              <a:ext uri="{FF2B5EF4-FFF2-40B4-BE49-F238E27FC236}">
                <a16:creationId xmlns:a16="http://schemas.microsoft.com/office/drawing/2014/main" id="{1E659BA4-4D03-4330-B72D-59C7C3958D4F}"/>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02</a:t>
            </a:r>
          </a:p>
        </p:txBody>
      </p:sp>
      <p:sp>
        <p:nvSpPr>
          <p:cNvPr id="3" name="">
            <a:extLst xmlns:a="http://schemas.openxmlformats.org/drawingml/2006/main">
              <a:ext uri="{FF2B5EF4-FFF2-40B4-BE49-F238E27FC236}">
                <a16:creationId xmlns:a16="http://schemas.microsoft.com/office/drawing/2014/main" id="{FCE4EB6E-53E1-42EE-BF71-D5B36D750EDC}"/>
              </a:ext>
            </a:extLst>
          </p:cNvPr>
          <p:cNvSpPr>
            <a:spLocks xmlns:a="http://schemas.openxmlformats.org/drawingml/2006/main" noGrp="1"/>
          </p:cNvSpPr>
          <p:nvPr/>
        </p:nvSpPr>
        <p:spPr>
          <a:xfrm xmlns:a="http://schemas.openxmlformats.org/drawingml/2006/main">
            <a:off x="704850" y="17049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87F83"/>
                </a:solidFill>
              </a:defRPr>
            </a:defPPr>
          </a:lstStyle>
          <a:p xmlns:a="http://schemas.openxmlformats.org/drawingml/2006/main">
            <a:pPr>
              <a:defRPr sz="2925" b="1">
                <a:solidFill>
                  <a:srgbClr val="087F83"/>
                </a:solidFill>
              </a:defRPr>
            </a:pPr>
            <a:r>
              <a:rPr sz="2925" b="1">
                <a:solidFill>
                  <a:srgbClr val="087F83"/>
                </a:solidFill>
              </a:rPr>
              <a:t>Which tasks can we distinguish with EEG?</a:t>
            </a:r>
          </a:p>
        </p:txBody>
      </p:sp>
      <p:sp>
        <p:nvSpPr>
          <p:cNvPr id="4" name="">
            <a:extLst xmlns:a="http://schemas.openxmlformats.org/drawingml/2006/main">
              <a:ext uri="{FF2B5EF4-FFF2-40B4-BE49-F238E27FC236}">
                <a16:creationId xmlns:a16="http://schemas.microsoft.com/office/drawing/2014/main" id="{36CF6BC7-FC29-4546-91C1-71CB7B7A02E3}"/>
              </a:ext>
            </a:extLst>
          </p:cNvPr>
          <p:cNvSpPr>
            <a:spLocks xmlns:a="http://schemas.openxmlformats.org/drawingml/2006/main" noGrp="1"/>
          </p:cNvSpPr>
          <p:nvPr/>
        </p:nvSpPr>
        <p:spPr>
          <a:xfrm xmlns:a="http://schemas.openxmlformats.org/drawingml/2006/main">
            <a:off x="704850" y="2857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Research aim</a:t>
            </a:r>
          </a:p>
        </p:txBody>
      </p:sp>
      <p:sp>
        <p:nvSpPr>
          <p:cNvPr id="5" name="">
            <a:extLst xmlns:a="http://schemas.openxmlformats.org/drawingml/2006/main">
              <a:ext uri="{FF2B5EF4-FFF2-40B4-BE49-F238E27FC236}">
                <a16:creationId xmlns:a16="http://schemas.microsoft.com/office/drawing/2014/main" id="{422A4570-FB7B-4A66-85E5-32EE42903D51}"/>
              </a:ext>
            </a:extLst>
          </p:cNvPr>
          <p:cNvSpPr>
            <a:spLocks xmlns:a="http://schemas.openxmlformats.org/drawingml/2006/main" noGrp="1"/>
          </p:cNvSpPr>
          <p:nvPr/>
        </p:nvSpPr>
        <p:spPr>
          <a:xfrm xmlns:a="http://schemas.openxmlformats.org/drawingml/2006/main">
            <a:off x="3981450" y="2857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Compare actual movement, imagined movement and mental tasks.</a:t>
            </a:r>
          </a:p>
        </p:txBody>
      </p:sp>
      <p:sp>
        <p:nvSpPr>
          <p:cNvPr id="6" name="">
            <a:extLst xmlns:a="http://schemas.openxmlformats.org/drawingml/2006/main">
              <a:ext uri="{FF2B5EF4-FFF2-40B4-BE49-F238E27FC236}">
                <a16:creationId xmlns:a16="http://schemas.microsoft.com/office/drawing/2014/main" id="{ECC339B5-CEDA-4C57-A4BA-AF3928E2DC06}"/>
              </a:ext>
            </a:extLst>
          </p:cNvPr>
          <p:cNvSpPr>
            <a:spLocks xmlns:a="http://schemas.openxmlformats.org/drawingml/2006/main" noGrp="1"/>
          </p:cNvSpPr>
          <p:nvPr/>
        </p:nvSpPr>
        <p:spPr>
          <a:xfrm xmlns:a="http://schemas.openxmlformats.org/drawingml/2006/main">
            <a:off x="704850" y="39243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Implemented</a:t>
            </a:r>
          </a:p>
        </p:txBody>
      </p:sp>
      <p:sp>
        <p:nvSpPr>
          <p:cNvPr id="7" name="">
            <a:extLst xmlns:a="http://schemas.openxmlformats.org/drawingml/2006/main">
              <a:ext uri="{FF2B5EF4-FFF2-40B4-BE49-F238E27FC236}">
                <a16:creationId xmlns:a16="http://schemas.microsoft.com/office/drawing/2014/main" id="{A1306801-E1FB-47DF-B3F2-A2D7207B4757}"/>
              </a:ext>
            </a:extLst>
          </p:cNvPr>
          <p:cNvSpPr>
            <a:spLocks xmlns:a="http://schemas.openxmlformats.org/drawingml/2006/main" noGrp="1"/>
          </p:cNvSpPr>
          <p:nvPr/>
        </p:nvSpPr>
        <p:spPr>
          <a:xfrm xmlns:a="http://schemas.openxmlformats.org/drawingml/2006/main">
            <a:off x="3981450" y="39243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Record EEG, present instructions, label tasks and inspect signals.</a:t>
            </a:r>
          </a:p>
        </p:txBody>
      </p:sp>
      <p:sp>
        <p:nvSpPr>
          <p:cNvPr id="8" name="">
            <a:extLst xmlns:a="http://schemas.openxmlformats.org/drawingml/2006/main">
              <a:ext uri="{FF2B5EF4-FFF2-40B4-BE49-F238E27FC236}">
                <a16:creationId xmlns:a16="http://schemas.microsoft.com/office/drawing/2014/main" id="{C703BA04-C4A5-40FD-A325-EF394B645B1A}"/>
              </a:ext>
            </a:extLst>
          </p:cNvPr>
          <p:cNvSpPr>
            <a:spLocks xmlns:a="http://schemas.openxmlformats.org/drawingml/2006/main" noGrp="1"/>
          </p:cNvSpPr>
          <p:nvPr/>
        </p:nvSpPr>
        <p:spPr>
          <a:xfrm xmlns:a="http://schemas.openxmlformats.org/drawingml/2006/main">
            <a:off x="704850" y="49911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Next research stage</a:t>
            </a:r>
          </a:p>
        </p:txBody>
      </p:sp>
      <p:sp>
        <p:nvSpPr>
          <p:cNvPr id="9" name="">
            <a:extLst xmlns:a="http://schemas.openxmlformats.org/drawingml/2006/main">
              <a:ext uri="{FF2B5EF4-FFF2-40B4-BE49-F238E27FC236}">
                <a16:creationId xmlns:a16="http://schemas.microsoft.com/office/drawing/2014/main" id="{7E3B53F0-9351-4DD5-B441-B97C3310AE15}"/>
              </a:ext>
            </a:extLst>
          </p:cNvPr>
          <p:cNvSpPr>
            <a:spLocks xmlns:a="http://schemas.openxmlformats.org/drawingml/2006/main" noGrp="1"/>
          </p:cNvSpPr>
          <p:nvPr/>
        </p:nvSpPr>
        <p:spPr>
          <a:xfrm xmlns:a="http://schemas.openxmlformats.org/drawingml/2006/main">
            <a:off x="3981450" y="49911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Collect pilot data and evaluate task classification and MEG comparability.</a:t>
            </a:r>
          </a:p>
        </p:txBody>
      </p:sp>
    </p:spTree>
    <p:extLst>
      <p:ext uri="{BB962C8B-B14F-4D97-AF65-F5344CB8AC3E}">
        <p14:creationId xmlns:p14="http://schemas.microsoft.com/office/powerpoint/2010/main" val="1514372465"/>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8EA40C-0A54-4349-A1EC-3C5BA64F6B92}"/>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EEG connection and recording</a:t>
            </a:r>
          </a:p>
        </p:txBody>
      </p:sp>
      <p:sp>
        <p:nvSpPr>
          <p:cNvPr id="2" name="">
            <a:extLst xmlns:a="http://schemas.openxmlformats.org/drawingml/2006/main">
              <a:ext uri="{FF2B5EF4-FFF2-40B4-BE49-F238E27FC236}">
                <a16:creationId xmlns:a16="http://schemas.microsoft.com/office/drawing/2014/main" id="{462CAD9C-D3EC-41F1-86A2-C02097372837}"/>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03</a:t>
            </a:r>
          </a:p>
        </p:txBody>
      </p:sp>
      <p:sp>
        <p:nvSpPr>
          <p:cNvPr id="3" name="">
            <a:extLst xmlns:a="http://schemas.openxmlformats.org/drawingml/2006/main">
              <a:ext uri="{FF2B5EF4-FFF2-40B4-BE49-F238E27FC236}">
                <a16:creationId xmlns:a16="http://schemas.microsoft.com/office/drawing/2014/main" id="{3F07D696-1D80-47D7-8F9B-A8FDD0E5D45E}"/>
              </a:ext>
            </a:extLst>
          </p:cNvPr>
          <p:cNvSpPr>
            <a:spLocks xmlns:a="http://schemas.openxmlformats.org/drawingml/2006/main" noGrp="1"/>
          </p:cNvSpPr>
          <p:nvPr/>
        </p:nvSpPr>
        <p:spPr>
          <a:xfrm xmlns:a="http://schemas.openxmlformats.org/drawingml/2006/main">
            <a:off x="704850" y="17716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Device setup</a:t>
            </a:r>
          </a:p>
        </p:txBody>
      </p:sp>
      <p:sp>
        <p:nvSpPr>
          <p:cNvPr id="4" name="">
            <a:extLst xmlns:a="http://schemas.openxmlformats.org/drawingml/2006/main">
              <a:ext uri="{FF2B5EF4-FFF2-40B4-BE49-F238E27FC236}">
                <a16:creationId xmlns:a16="http://schemas.microsoft.com/office/drawing/2014/main" id="{50F1D038-5EC4-49EB-BC04-2398ADBA4615}"/>
              </a:ext>
            </a:extLst>
          </p:cNvPr>
          <p:cNvSpPr>
            <a:spLocks xmlns:a="http://schemas.openxmlformats.org/drawingml/2006/main" noGrp="1"/>
          </p:cNvSpPr>
          <p:nvPr/>
        </p:nvSpPr>
        <p:spPr>
          <a:xfrm xmlns:a="http://schemas.openxmlformats.org/drawingml/2006/main">
            <a:off x="3981450" y="17716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Find and connect the Unicorn headset. Inspect device details and select channels.</a:t>
            </a:r>
          </a:p>
        </p:txBody>
      </p:sp>
      <p:sp>
        <p:nvSpPr>
          <p:cNvPr id="5" name="">
            <a:extLst xmlns:a="http://schemas.openxmlformats.org/drawingml/2006/main">
              <a:ext uri="{FF2B5EF4-FFF2-40B4-BE49-F238E27FC236}">
                <a16:creationId xmlns:a16="http://schemas.microsoft.com/office/drawing/2014/main" id="{0C2A2A3C-EF38-46BB-90A5-C04B81249540}"/>
              </a:ext>
            </a:extLst>
          </p:cNvPr>
          <p:cNvSpPr>
            <a:spLocks xmlns:a="http://schemas.openxmlformats.org/drawingml/2006/main" noGrp="1"/>
          </p:cNvSpPr>
          <p:nvPr/>
        </p:nvSpPr>
        <p:spPr>
          <a:xfrm xmlns:a="http://schemas.openxmlformats.org/drawingml/2006/main">
            <a:off x="704850" y="29146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Recording modes</a:t>
            </a:r>
          </a:p>
        </p:txBody>
      </p:sp>
      <p:sp>
        <p:nvSpPr>
          <p:cNvPr id="6" name="">
            <a:extLst xmlns:a="http://schemas.openxmlformats.org/drawingml/2006/main">
              <a:ext uri="{FF2B5EF4-FFF2-40B4-BE49-F238E27FC236}">
                <a16:creationId xmlns:a16="http://schemas.microsoft.com/office/drawing/2014/main" id="{61E9D2DE-C4C0-4EAC-9D41-7E327593662E}"/>
              </a:ext>
            </a:extLst>
          </p:cNvPr>
          <p:cNvSpPr>
            <a:spLocks xmlns:a="http://schemas.openxmlformats.org/drawingml/2006/main" noGrp="1"/>
          </p:cNvSpPr>
          <p:nvPr/>
        </p:nvSpPr>
        <p:spPr>
          <a:xfrm xmlns:a="http://schemas.openxmlformats.org/drawingml/2006/main">
            <a:off x="3981450" y="29146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Capture short checks or continuous sessions, with an optional automatic stop.</a:t>
            </a:r>
          </a:p>
        </p:txBody>
      </p:sp>
      <p:sp>
        <p:nvSpPr>
          <p:cNvPr id="7" name="">
            <a:extLst xmlns:a="http://schemas.openxmlformats.org/drawingml/2006/main">
              <a:ext uri="{FF2B5EF4-FFF2-40B4-BE49-F238E27FC236}">
                <a16:creationId xmlns:a16="http://schemas.microsoft.com/office/drawing/2014/main" id="{D0FF0BD0-E9F6-474A-A77D-471928B1FAF0}"/>
              </a:ext>
            </a:extLst>
          </p:cNvPr>
          <p:cNvSpPr>
            <a:spLocks xmlns:a="http://schemas.openxmlformats.org/drawingml/2006/main" noGrp="1"/>
          </p:cNvSpPr>
          <p:nvPr/>
        </p:nvSpPr>
        <p:spPr>
          <a:xfrm xmlns:a="http://schemas.openxmlformats.org/drawingml/2006/main">
            <a:off x="704850" y="40576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Saved data</a:t>
            </a:r>
          </a:p>
        </p:txBody>
      </p:sp>
      <p:sp>
        <p:nvSpPr>
          <p:cNvPr id="8" name="">
            <a:extLst xmlns:a="http://schemas.openxmlformats.org/drawingml/2006/main">
              <a:ext uri="{FF2B5EF4-FFF2-40B4-BE49-F238E27FC236}">
                <a16:creationId xmlns:a16="http://schemas.microsoft.com/office/drawing/2014/main" id="{4F744AB6-4093-47D1-96D4-0A08452427B6}"/>
              </a:ext>
            </a:extLst>
          </p:cNvPr>
          <p:cNvSpPr>
            <a:spLocks xmlns:a="http://schemas.openxmlformats.org/drawingml/2006/main" noGrp="1"/>
          </p:cNvSpPr>
          <p:nvPr/>
        </p:nvSpPr>
        <p:spPr>
          <a:xfrm xmlns:a="http://schemas.openxmlformats.org/drawingml/2006/main">
            <a:off x="3981450" y="40576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Export channel values and timing information to CSV at 250 samples per second.</a:t>
            </a:r>
          </a:p>
        </p:txBody>
      </p:sp>
      <p:sp>
        <p:nvSpPr>
          <p:cNvPr id="9" name="">
            <a:extLst xmlns:a="http://schemas.openxmlformats.org/drawingml/2006/main">
              <a:ext uri="{FF2B5EF4-FFF2-40B4-BE49-F238E27FC236}">
                <a16:creationId xmlns:a16="http://schemas.microsoft.com/office/drawing/2014/main" id="{F9957FAD-7787-4FE5-8F61-4FC098761D79}"/>
              </a:ext>
            </a:extLst>
          </p:cNvPr>
          <p:cNvSpPr>
            <a:spLocks xmlns:a="http://schemas.openxmlformats.org/drawingml/2006/main" noGrp="1"/>
          </p:cNvSpPr>
          <p:nvPr/>
        </p:nvSpPr>
        <p:spPr>
          <a:xfrm xmlns:a="http://schemas.openxmlformats.org/drawingml/2006/main">
            <a:off x="704850" y="52006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Session monitoring</a:t>
            </a:r>
          </a:p>
        </p:txBody>
      </p:sp>
      <p:sp>
        <p:nvSpPr>
          <p:cNvPr id="10" name="">
            <a:extLst xmlns:a="http://schemas.openxmlformats.org/drawingml/2006/main">
              <a:ext uri="{FF2B5EF4-FFF2-40B4-BE49-F238E27FC236}">
                <a16:creationId xmlns:a16="http://schemas.microsoft.com/office/drawing/2014/main" id="{9EEF2D17-8C6B-4CF4-8093-CFA1C859033B}"/>
              </a:ext>
            </a:extLst>
          </p:cNvPr>
          <p:cNvSpPr>
            <a:spLocks xmlns:a="http://schemas.openxmlformats.org/drawingml/2006/main" noGrp="1"/>
          </p:cNvSpPr>
          <p:nvPr/>
        </p:nvSpPr>
        <p:spPr>
          <a:xfrm xmlns:a="http://schemas.openxmlformats.org/drawingml/2006/main">
            <a:off x="3981450" y="52006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Check sample counts, recording errors and available device status indicators.</a:t>
            </a:r>
          </a:p>
        </p:txBody>
      </p:sp>
    </p:spTree>
    <p:extLst>
      <p:ext uri="{BB962C8B-B14F-4D97-AF65-F5344CB8AC3E}">
        <p14:creationId xmlns:p14="http://schemas.microsoft.com/office/powerpoint/2010/main" val="2033483391"/>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DC0B38-0973-4200-9CEB-820FB5273B80}"/>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Experiment organisation and task instructions</a:t>
            </a:r>
          </a:p>
        </p:txBody>
      </p:sp>
      <p:sp>
        <p:nvSpPr>
          <p:cNvPr id="2" name="">
            <a:extLst xmlns:a="http://schemas.openxmlformats.org/drawingml/2006/main">
              <a:ext uri="{FF2B5EF4-FFF2-40B4-BE49-F238E27FC236}">
                <a16:creationId xmlns:a16="http://schemas.microsoft.com/office/drawing/2014/main" id="{0AE8153D-4A20-441D-A5A0-5A2D27CD3B6B}"/>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04</a:t>
            </a:r>
          </a:p>
        </p:txBody>
      </p:sp>
      <p:sp>
        <p:nvSpPr>
          <p:cNvPr id="3" name="">
            <a:extLst xmlns:a="http://schemas.openxmlformats.org/drawingml/2006/main">
              <a:ext uri="{FF2B5EF4-FFF2-40B4-BE49-F238E27FC236}">
                <a16:creationId xmlns:a16="http://schemas.microsoft.com/office/drawing/2014/main" id="{83990EF5-8AC1-4D37-A56A-638E91C6A6B1}"/>
              </a:ext>
            </a:extLst>
          </p:cNvPr>
          <p:cNvSpPr>
            <a:spLocks xmlns:a="http://schemas.openxmlformats.org/drawingml/2006/main" noGrp="1"/>
          </p:cNvSpPr>
          <p:nvPr/>
        </p:nvSpPr>
        <p:spPr>
          <a:xfrm xmlns:a="http://schemas.openxmlformats.org/drawingml/2006/main">
            <a:off x="704850" y="17430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Experiment folders</a:t>
            </a:r>
          </a:p>
        </p:txBody>
      </p:sp>
      <p:sp>
        <p:nvSpPr>
          <p:cNvPr id="4" name="">
            <a:extLst xmlns:a="http://schemas.openxmlformats.org/drawingml/2006/main">
              <a:ext uri="{FF2B5EF4-FFF2-40B4-BE49-F238E27FC236}">
                <a16:creationId xmlns:a16="http://schemas.microsoft.com/office/drawing/2014/main" id="{2FA94129-5619-4C21-978D-F3437037F874}"/>
              </a:ext>
            </a:extLst>
          </p:cNvPr>
          <p:cNvSpPr>
            <a:spLocks xmlns:a="http://schemas.openxmlformats.org/drawingml/2006/main" noGrp="1"/>
          </p:cNvSpPr>
          <p:nvPr/>
        </p:nvSpPr>
        <p:spPr>
          <a:xfrm xmlns:a="http://schemas.openxmlformats.org/drawingml/2006/main">
            <a:off x="3981450" y="17430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Create, select and list experiments. Keep EEG files and task labels together.</a:t>
            </a:r>
          </a:p>
        </p:txBody>
      </p:sp>
      <p:sp>
        <p:nvSpPr>
          <p:cNvPr id="5" name="">
            <a:extLst xmlns:a="http://schemas.openxmlformats.org/drawingml/2006/main">
              <a:ext uri="{FF2B5EF4-FFF2-40B4-BE49-F238E27FC236}">
                <a16:creationId xmlns:a16="http://schemas.microsoft.com/office/drawing/2014/main" id="{E5EBB0A3-9FDE-4722-87D1-6F6ED4CD8C2B}"/>
              </a:ext>
            </a:extLst>
          </p:cNvPr>
          <p:cNvSpPr>
            <a:spLocks xmlns:a="http://schemas.openxmlformats.org/drawingml/2006/main" noGrp="1"/>
          </p:cNvSpPr>
          <p:nvPr/>
        </p:nvSpPr>
        <p:spPr>
          <a:xfrm xmlns:a="http://schemas.openxmlformats.org/drawingml/2006/main">
            <a:off x="704850" y="2857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Participant display</a:t>
            </a:r>
          </a:p>
        </p:txBody>
      </p:sp>
      <p:sp>
        <p:nvSpPr>
          <p:cNvPr id="6" name="">
            <a:extLst xmlns:a="http://schemas.openxmlformats.org/drawingml/2006/main">
              <a:ext uri="{FF2B5EF4-FFF2-40B4-BE49-F238E27FC236}">
                <a16:creationId xmlns:a16="http://schemas.microsoft.com/office/drawing/2014/main" id="{45F75283-652E-4346-A546-71A6D58A4E40}"/>
              </a:ext>
            </a:extLst>
          </p:cNvPr>
          <p:cNvSpPr>
            <a:spLocks xmlns:a="http://schemas.openxmlformats.org/drawingml/2006/main" noGrp="1"/>
          </p:cNvSpPr>
          <p:nvPr/>
        </p:nvSpPr>
        <p:spPr>
          <a:xfrm xmlns:a="http://schemas.openxmlformats.org/drawingml/2006/main">
            <a:off x="3981450" y="2857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Show movement, subtraction or custom instructions in a separate Windows window.</a:t>
            </a:r>
          </a:p>
        </p:txBody>
      </p:sp>
      <p:sp>
        <p:nvSpPr>
          <p:cNvPr id="7" name="">
            <a:extLst xmlns:a="http://schemas.openxmlformats.org/drawingml/2006/main">
              <a:ext uri="{FF2B5EF4-FFF2-40B4-BE49-F238E27FC236}">
                <a16:creationId xmlns:a16="http://schemas.microsoft.com/office/drawing/2014/main" id="{1EAB7BBC-EE2B-4F63-ABA6-096B3475B31F}"/>
              </a:ext>
            </a:extLst>
          </p:cNvPr>
          <p:cNvSpPr>
            <a:spLocks xmlns:a="http://schemas.openxmlformats.org/drawingml/2006/main" noGrp="1"/>
          </p:cNvSpPr>
          <p:nvPr/>
        </p:nvSpPr>
        <p:spPr>
          <a:xfrm xmlns:a="http://schemas.openxmlformats.org/drawingml/2006/main">
            <a:off x="704850" y="39719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Task markers</a:t>
            </a:r>
          </a:p>
        </p:txBody>
      </p:sp>
      <p:sp>
        <p:nvSpPr>
          <p:cNvPr id="8" name="">
            <a:extLst xmlns:a="http://schemas.openxmlformats.org/drawingml/2006/main">
              <a:ext uri="{FF2B5EF4-FFF2-40B4-BE49-F238E27FC236}">
                <a16:creationId xmlns:a16="http://schemas.microsoft.com/office/drawing/2014/main" id="{F393296F-11A6-4A8E-94CB-8564BF0129FD}"/>
              </a:ext>
            </a:extLst>
          </p:cNvPr>
          <p:cNvSpPr>
            <a:spLocks xmlns:a="http://schemas.openxmlformats.org/drawingml/2006/main" noGrp="1"/>
          </p:cNvSpPr>
          <p:nvPr/>
        </p:nvSpPr>
        <p:spPr>
          <a:xfrm xmlns:a="http://schemas.openxmlformats.org/drawingml/2006/main">
            <a:off x="3981450" y="39719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Log task labels during recording and update the participant display.</a:t>
            </a:r>
          </a:p>
        </p:txBody>
      </p:sp>
      <p:sp>
        <p:nvSpPr>
          <p:cNvPr id="9" name="">
            <a:extLst xmlns:a="http://schemas.openxmlformats.org/drawingml/2006/main">
              <a:ext uri="{FF2B5EF4-FFF2-40B4-BE49-F238E27FC236}">
                <a16:creationId xmlns:a16="http://schemas.microsoft.com/office/drawing/2014/main" id="{B232BBF8-729C-4BE3-8575-DEB80CE2D2C2}"/>
              </a:ext>
            </a:extLst>
          </p:cNvPr>
          <p:cNvSpPr>
            <a:spLocks xmlns:a="http://schemas.openxmlformats.org/drawingml/2006/main" noGrp="1"/>
          </p:cNvSpPr>
          <p:nvPr/>
        </p:nvSpPr>
        <p:spPr>
          <a:xfrm xmlns:a="http://schemas.openxmlformats.org/drawingml/2006/main">
            <a:off x="704850" y="50863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Data protection</a:t>
            </a:r>
          </a:p>
        </p:txBody>
      </p:sp>
      <p:sp>
        <p:nvSpPr>
          <p:cNvPr id="10" name="">
            <a:extLst xmlns:a="http://schemas.openxmlformats.org/drawingml/2006/main">
              <a:ext uri="{FF2B5EF4-FFF2-40B4-BE49-F238E27FC236}">
                <a16:creationId xmlns:a16="http://schemas.microsoft.com/office/drawing/2014/main" id="{E837B4B4-3720-464E-B3F2-7F1765670E5A}"/>
              </a:ext>
            </a:extLst>
          </p:cNvPr>
          <p:cNvSpPr>
            <a:spLocks xmlns:a="http://schemas.openxmlformats.org/drawingml/2006/main" noGrp="1"/>
          </p:cNvSpPr>
          <p:nvPr/>
        </p:nvSpPr>
        <p:spPr>
          <a:xfrm xmlns:a="http://schemas.openxmlformats.org/drawingml/2006/main">
            <a:off x="3981450" y="50863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Prevent accidental overwrites and experiment changes during acquisition.</a:t>
            </a:r>
          </a:p>
        </p:txBody>
      </p:sp>
    </p:spTree>
    <p:extLst>
      <p:ext uri="{BB962C8B-B14F-4D97-AF65-F5344CB8AC3E}">
        <p14:creationId xmlns:p14="http://schemas.microsoft.com/office/powerpoint/2010/main" val="1906043812"/>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AE4761-3E11-42E5-9274-D4B2059FBB61}"/>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Signal inspection and software checks</a:t>
            </a:r>
          </a:p>
        </p:txBody>
      </p:sp>
      <p:sp>
        <p:nvSpPr>
          <p:cNvPr id="2" name="">
            <a:extLst xmlns:a="http://schemas.openxmlformats.org/drawingml/2006/main">
              <a:ext uri="{FF2B5EF4-FFF2-40B4-BE49-F238E27FC236}">
                <a16:creationId xmlns:a16="http://schemas.microsoft.com/office/drawing/2014/main" id="{496C04D7-5B86-43D9-8C07-EACCF80E99BD}"/>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05</a:t>
            </a:r>
          </a:p>
        </p:txBody>
      </p:sp>
      <p:sp>
        <p:nvSpPr>
          <p:cNvPr id="3" name="">
            <a:extLst xmlns:a="http://schemas.openxmlformats.org/drawingml/2006/main">
              <a:ext uri="{FF2B5EF4-FFF2-40B4-BE49-F238E27FC236}">
                <a16:creationId xmlns:a16="http://schemas.microsoft.com/office/drawing/2014/main" id="{EF6905E4-6ECD-4B35-81A9-1BDBC493AB91}"/>
              </a:ext>
            </a:extLst>
          </p:cNvPr>
          <p:cNvSpPr>
            <a:spLocks xmlns:a="http://schemas.openxmlformats.org/drawingml/2006/main" noGrp="1"/>
          </p:cNvSpPr>
          <p:nvPr/>
        </p:nvSpPr>
        <p:spPr>
          <a:xfrm xmlns:a="http://schemas.openxmlformats.org/drawingml/2006/main">
            <a:off x="704850" y="17335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EEG viewer</a:t>
            </a:r>
          </a:p>
        </p:txBody>
      </p:sp>
      <p:sp>
        <p:nvSpPr>
          <p:cNvPr id="4" name="">
            <a:extLst xmlns:a="http://schemas.openxmlformats.org/drawingml/2006/main">
              <a:ext uri="{FF2B5EF4-FFF2-40B4-BE49-F238E27FC236}">
                <a16:creationId xmlns:a16="http://schemas.microsoft.com/office/drawing/2014/main" id="{7FA7D54B-2EDB-4297-945C-E622CB24E8D7}"/>
              </a:ext>
            </a:extLst>
          </p:cNvPr>
          <p:cNvSpPr>
            <a:spLocks xmlns:a="http://schemas.openxmlformats.org/drawingml/2006/main" noGrp="1"/>
          </p:cNvSpPr>
          <p:nvPr/>
        </p:nvSpPr>
        <p:spPr>
          <a:xfrm xmlns:a="http://schemas.openxmlformats.org/drawingml/2006/main">
            <a:off x="3981450" y="17335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Open recorded channels and task markers in MNE for visual inspection.</a:t>
            </a:r>
          </a:p>
        </p:txBody>
      </p:sp>
      <p:sp>
        <p:nvSpPr>
          <p:cNvPr id="5" name="">
            <a:extLst xmlns:a="http://schemas.openxmlformats.org/drawingml/2006/main">
              <a:ext uri="{FF2B5EF4-FFF2-40B4-BE49-F238E27FC236}">
                <a16:creationId xmlns:a16="http://schemas.microsoft.com/office/drawing/2014/main" id="{D6C3A3DE-06D2-40A1-9D9E-2B6BEFAA2755}"/>
              </a:ext>
            </a:extLst>
          </p:cNvPr>
          <p:cNvSpPr>
            <a:spLocks xmlns:a="http://schemas.openxmlformats.org/drawingml/2006/main" noGrp="1"/>
          </p:cNvSpPr>
          <p:nvPr/>
        </p:nvSpPr>
        <p:spPr>
          <a:xfrm xmlns:a="http://schemas.openxmlformats.org/drawingml/2006/main">
            <a:off x="704850" y="2847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Display options</a:t>
            </a:r>
          </a:p>
        </p:txBody>
      </p:sp>
      <p:sp>
        <p:nvSpPr>
          <p:cNvPr id="6" name="">
            <a:extLst xmlns:a="http://schemas.openxmlformats.org/drawingml/2006/main">
              <a:ext uri="{FF2B5EF4-FFF2-40B4-BE49-F238E27FC236}">
                <a16:creationId xmlns:a16="http://schemas.microsoft.com/office/drawing/2014/main" id="{E45952CB-306B-4F1E-8684-E76213D6946D}"/>
              </a:ext>
            </a:extLst>
          </p:cNvPr>
          <p:cNvSpPr>
            <a:spLocks xmlns:a="http://schemas.openxmlformats.org/drawingml/2006/main" noGrp="1"/>
          </p:cNvSpPr>
          <p:nvPr/>
        </p:nvSpPr>
        <p:spPr>
          <a:xfrm xmlns:a="http://schemas.openxmlformats.org/drawingml/2006/main">
            <a:off x="3981450" y="2847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View signal traces or frequency spectra. Apply optional display filtering.</a:t>
            </a:r>
          </a:p>
        </p:txBody>
      </p:sp>
      <p:sp>
        <p:nvSpPr>
          <p:cNvPr id="7" name="">
            <a:extLst xmlns:a="http://schemas.openxmlformats.org/drawingml/2006/main">
              <a:ext uri="{FF2B5EF4-FFF2-40B4-BE49-F238E27FC236}">
                <a16:creationId xmlns:a16="http://schemas.microsoft.com/office/drawing/2014/main" id="{41A77D4A-A2F0-4694-B7A4-791ED4D34C09}"/>
              </a:ext>
            </a:extLst>
          </p:cNvPr>
          <p:cNvSpPr>
            <a:spLocks xmlns:a="http://schemas.openxmlformats.org/drawingml/2006/main" noGrp="1"/>
          </p:cNvSpPr>
          <p:nvPr/>
        </p:nvSpPr>
        <p:spPr>
          <a:xfrm xmlns:a="http://schemas.openxmlformats.org/drawingml/2006/main">
            <a:off x="704850" y="39624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Input checks</a:t>
            </a:r>
          </a:p>
        </p:txBody>
      </p:sp>
      <p:sp>
        <p:nvSpPr>
          <p:cNvPr id="8" name="">
            <a:extLst xmlns:a="http://schemas.openxmlformats.org/drawingml/2006/main">
              <a:ext uri="{FF2B5EF4-FFF2-40B4-BE49-F238E27FC236}">
                <a16:creationId xmlns:a16="http://schemas.microsoft.com/office/drawing/2014/main" id="{ECF47405-FF1B-420D-8715-90B3727E440D}"/>
              </a:ext>
            </a:extLst>
          </p:cNvPr>
          <p:cNvSpPr>
            <a:spLocks xmlns:a="http://schemas.openxmlformats.org/drawingml/2006/main" noGrp="1"/>
          </p:cNvSpPr>
          <p:nvPr/>
        </p:nvSpPr>
        <p:spPr>
          <a:xfrm xmlns:a="http://schemas.openxmlformats.org/drawingml/2006/main">
            <a:off x="3981450" y="39624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Check units, sample numbering and invalid values. Warn about counter gaps.</a:t>
            </a:r>
          </a:p>
        </p:txBody>
      </p:sp>
      <p:sp>
        <p:nvSpPr>
          <p:cNvPr id="9" name="">
            <a:extLst xmlns:a="http://schemas.openxmlformats.org/drawingml/2006/main">
              <a:ext uri="{FF2B5EF4-FFF2-40B4-BE49-F238E27FC236}">
                <a16:creationId xmlns:a16="http://schemas.microsoft.com/office/drawing/2014/main" id="{D97C3A5F-2976-4F76-8177-BE66C9825280}"/>
              </a:ext>
            </a:extLst>
          </p:cNvPr>
          <p:cNvSpPr>
            <a:spLocks xmlns:a="http://schemas.openxmlformats.org/drawingml/2006/main" noGrp="1"/>
          </p:cNvSpPr>
          <p:nvPr/>
        </p:nvSpPr>
        <p:spPr>
          <a:xfrm xmlns:a="http://schemas.openxmlformats.org/drawingml/2006/main">
            <a:off x="704850" y="50768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Software testing</a:t>
            </a:r>
          </a:p>
        </p:txBody>
      </p:sp>
      <p:sp>
        <p:nvSpPr>
          <p:cNvPr id="10" name="">
            <a:extLst xmlns:a="http://schemas.openxmlformats.org/drawingml/2006/main">
              <a:ext uri="{FF2B5EF4-FFF2-40B4-BE49-F238E27FC236}">
                <a16:creationId xmlns:a16="http://schemas.microsoft.com/office/drawing/2014/main" id="{5DA21664-E4B4-4696-855F-A0D7999154B6}"/>
              </a:ext>
            </a:extLst>
          </p:cNvPr>
          <p:cNvSpPr>
            <a:spLocks xmlns:a="http://schemas.openxmlformats.org/drawingml/2006/main" noGrp="1"/>
          </p:cNvSpPr>
          <p:nvPr/>
        </p:nvSpPr>
        <p:spPr>
          <a:xfrm xmlns:a="http://schemas.openxmlformats.org/drawingml/2006/main">
            <a:off x="3981450" y="50768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Simulated-device tests pass for recording, markers, file safeguards and failure handling.</a:t>
            </a:r>
          </a:p>
        </p:txBody>
      </p:sp>
    </p:spTree>
    <p:extLst>
      <p:ext uri="{BB962C8B-B14F-4D97-AF65-F5344CB8AC3E}">
        <p14:creationId xmlns:p14="http://schemas.microsoft.com/office/powerpoint/2010/main" val="297441586"/>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A23AC8-F75C-4376-9D1F-50A39B6FB5EA}"/>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Study materials and proposed pilot</a:t>
            </a:r>
          </a:p>
        </p:txBody>
      </p:sp>
      <p:sp>
        <p:nvSpPr>
          <p:cNvPr id="2" name="">
            <a:extLst xmlns:a="http://schemas.openxmlformats.org/drawingml/2006/main">
              <a:ext uri="{FF2B5EF4-FFF2-40B4-BE49-F238E27FC236}">
                <a16:creationId xmlns:a16="http://schemas.microsoft.com/office/drawing/2014/main" id="{3E72FC3C-05A9-4D75-8524-9A772CBAD9C7}"/>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06</a:t>
            </a:r>
          </a:p>
        </p:txBody>
      </p:sp>
      <p:sp>
        <p:nvSpPr>
          <p:cNvPr id="3" name="">
            <a:extLst xmlns:a="http://schemas.openxmlformats.org/drawingml/2006/main">
              <a:ext uri="{FF2B5EF4-FFF2-40B4-BE49-F238E27FC236}">
                <a16:creationId xmlns:a16="http://schemas.microsoft.com/office/drawing/2014/main" id="{F68D76BF-51A0-4A52-AADF-25D933BA8ADE}"/>
              </a:ext>
            </a:extLst>
          </p:cNvPr>
          <p:cNvSpPr>
            <a:spLocks xmlns:a="http://schemas.openxmlformats.org/drawingml/2006/main" noGrp="1"/>
          </p:cNvSpPr>
          <p:nvPr/>
        </p:nvSpPr>
        <p:spPr>
          <a:xfrm xmlns:a="http://schemas.openxmlformats.org/drawingml/2006/main">
            <a:off x="704850" y="1695450"/>
            <a:ext cx="471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3"/>
                </a:solidFill>
              </a:defRPr>
            </a:defPPr>
          </a:lstStyle>
          <a:p xmlns:a="http://schemas.openxmlformats.org/drawingml/2006/main">
            <a:pPr>
              <a:defRPr sz="2400" b="1">
                <a:solidFill>
                  <a:srgbClr val="087F83"/>
                </a:solidFill>
              </a:defRPr>
            </a:pPr>
            <a:r>
              <a:rPr sz="2400" b="1">
                <a:solidFill>
                  <a:srgbClr val="087F83"/>
                </a:solidFill>
              </a:rPr>
              <a:t>Prepared documentation</a:t>
            </a:r>
          </a:p>
        </p:txBody>
      </p:sp>
      <p:sp>
        <p:nvSpPr>
          <p:cNvPr id="4" name="">
            <a:extLst xmlns:a="http://schemas.openxmlformats.org/drawingml/2006/main">
              <a:ext uri="{FF2B5EF4-FFF2-40B4-BE49-F238E27FC236}">
                <a16:creationId xmlns:a16="http://schemas.microsoft.com/office/drawing/2014/main" id="{2C449000-D3B5-415B-9DE3-497510FC7F07}"/>
              </a:ext>
            </a:extLst>
          </p:cNvPr>
          <p:cNvSpPr>
            <a:spLocks xmlns:a="http://schemas.openxmlformats.org/drawingml/2006/main" noGrp="1"/>
          </p:cNvSpPr>
          <p:nvPr/>
        </p:nvSpPr>
        <p:spPr>
          <a:xfrm xmlns:a="http://schemas.openxmlformats.org/drawingml/2006/main">
            <a:off x="704850" y="2476500"/>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German operating guide</a:t>
            </a:r>
          </a:p>
          <a:p xmlns:a="http://schemas.openxmlformats.org/drawingml/2006/main">
            <a:pPr>
              <a:defRPr sz="2100" b="0">
                <a:solidFill>
                  <a:srgbClr val="142B3B"/>
                </a:solidFill>
              </a:defRPr>
            </a:pPr>
            <a:r>
              <a:rPr sz="2100" b="0">
                <a:solidFill>
                  <a:srgbClr val="142B3B"/>
                </a:solidFill>
              </a:rPr>
              <a:t>Headset and software summary</a:t>
            </a:r>
          </a:p>
          <a:p xmlns:a="http://schemas.openxmlformats.org/drawingml/2006/main">
            <a:pPr>
              <a:defRPr sz="2100" b="0">
                <a:solidFill>
                  <a:srgbClr val="142B3B"/>
                </a:solidFill>
              </a:defRPr>
            </a:pPr>
            <a:r>
              <a:rPr sz="2100" b="0">
                <a:solidFill>
                  <a:srgbClr val="142B3B"/>
                </a:solidFill>
              </a:rPr>
              <a:t>Participant information and consent</a:t>
            </a:r>
          </a:p>
          <a:p xmlns:a="http://schemas.openxmlformats.org/drawingml/2006/main">
            <a:pPr>
              <a:defRPr sz="2100" b="0">
                <a:solidFill>
                  <a:srgbClr val="142B3B"/>
                </a:solidFill>
              </a:defRPr>
            </a:pPr>
            <a:r>
              <a:rPr sz="2100" b="0">
                <a:solidFill>
                  <a:srgbClr val="142B3B"/>
                </a:solidFill>
              </a:rPr>
              <a:t>Task descriptions and pilot protocol</a:t>
            </a:r>
          </a:p>
        </p:txBody>
      </p:sp>
      <p:sp>
        <p:nvSpPr>
          <p:cNvPr id="5" name="">
            <a:extLst xmlns:a="http://schemas.openxmlformats.org/drawingml/2006/main">
              <a:ext uri="{FF2B5EF4-FFF2-40B4-BE49-F238E27FC236}">
                <a16:creationId xmlns:a16="http://schemas.microsoft.com/office/drawing/2014/main" id="{1A940788-1B83-485A-973F-6C6AF1CC332B}"/>
              </a:ext>
            </a:extLst>
          </p:cNvPr>
          <p:cNvSpPr>
            <a:spLocks xmlns:a="http://schemas.openxmlformats.org/drawingml/2006/main" noGrp="1"/>
          </p:cNvSpPr>
          <p:nvPr/>
        </p:nvSpPr>
        <p:spPr>
          <a:xfrm xmlns:a="http://schemas.openxmlformats.org/drawingml/2006/main">
            <a:off x="6305550" y="16954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3"/>
                </a:solidFill>
              </a:defRPr>
            </a:defPPr>
          </a:lstStyle>
          <a:p xmlns:a="http://schemas.openxmlformats.org/drawingml/2006/main">
            <a:pPr>
              <a:defRPr sz="2400" b="1">
                <a:solidFill>
                  <a:srgbClr val="087F83"/>
                </a:solidFill>
              </a:defRPr>
            </a:pPr>
            <a:r>
              <a:rPr sz="2400" b="1">
                <a:solidFill>
                  <a:srgbClr val="087F83"/>
                </a:solidFill>
              </a:rPr>
              <a:t>Latest pilot proposal</a:t>
            </a:r>
          </a:p>
        </p:txBody>
      </p:sp>
      <p:sp>
        <p:nvSpPr>
          <p:cNvPr id="6" name="">
            <a:extLst xmlns:a="http://schemas.openxmlformats.org/drawingml/2006/main">
              <a:ext uri="{FF2B5EF4-FFF2-40B4-BE49-F238E27FC236}">
                <a16:creationId xmlns:a16="http://schemas.microsoft.com/office/drawing/2014/main" id="{E2DBB558-A8AB-411C-B8AD-6A22AF84512E}"/>
              </a:ext>
            </a:extLst>
          </p:cNvPr>
          <p:cNvSpPr>
            <a:spLocks xmlns:a="http://schemas.openxmlformats.org/drawingml/2006/main" noGrp="1"/>
          </p:cNvSpPr>
          <p:nvPr/>
        </p:nvSpPr>
        <p:spPr>
          <a:xfrm xmlns:a="http://schemas.openxmlformats.org/drawingml/2006/main">
            <a:off x="6305550" y="2476500"/>
            <a:ext cx="51911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Actual arm and leg movement, blinking</a:t>
            </a:r>
          </a:p>
          <a:p xmlns:a="http://schemas.openxmlformats.org/drawingml/2006/main">
            <a:pPr>
              <a:defRPr sz="2100" b="0">
                <a:solidFill>
                  <a:srgbClr val="142B3B"/>
                </a:solidFill>
              </a:defRPr>
            </a:pPr>
            <a:r>
              <a:rPr sz="2100" b="0">
                <a:solidFill>
                  <a:srgbClr val="142B3B"/>
                </a:solidFill>
              </a:rPr>
              <a:t>Imagined arm and leg movement</a:t>
            </a:r>
          </a:p>
          <a:p xmlns:a="http://schemas.openxmlformats.org/drawingml/2006/main">
            <a:pPr>
              <a:defRPr sz="2100" b="0">
                <a:solidFill>
                  <a:srgbClr val="142B3B"/>
                </a:solidFill>
              </a:defRPr>
            </a:pPr>
            <a:r>
              <a:rPr sz="2100" b="0">
                <a:solidFill>
                  <a:srgbClr val="142B3B"/>
                </a:solidFill>
              </a:rPr>
              <a:t>Silent serial subtraction</a:t>
            </a:r>
          </a:p>
          <a:p xmlns:a="http://schemas.openxmlformats.org/drawingml/2006/main">
            <a:pPr>
              <a:defRPr sz="2100" b="0">
                <a:solidFill>
                  <a:srgbClr val="142B3B"/>
                </a:solidFill>
              </a:defRPr>
            </a:pPr>
            <a:r>
              <a:rPr sz="2100" b="0">
                <a:solidFill>
                  <a:srgbClr val="142B3B"/>
                </a:solidFill>
              </a:rPr>
              <a:t>Baseline recordings and recovery periods</a:t>
            </a:r>
          </a:p>
        </p:txBody>
      </p:sp>
      <p:sp>
        <p:nvSpPr>
          <p:cNvPr id="7" name="">
            <a:extLst xmlns:a="http://schemas.openxmlformats.org/drawingml/2006/main">
              <a:ext uri="{FF2B5EF4-FFF2-40B4-BE49-F238E27FC236}">
                <a16:creationId xmlns:a16="http://schemas.microsoft.com/office/drawing/2014/main" id="{10D1A784-26ED-4E80-956C-E62EAA3F80A1}"/>
              </a:ext>
            </a:extLst>
          </p:cNvPr>
          <p:cNvSpPr>
            <a:spLocks xmlns:a="http://schemas.openxmlformats.org/drawingml/2006/main" noGrp="1"/>
          </p:cNvSpPr>
          <p:nvPr/>
        </p:nvSpPr>
        <p:spPr>
          <a:xfrm xmlns:a="http://schemas.openxmlformats.org/drawingml/2006/main">
            <a:off x="704850" y="5676900"/>
            <a:ext cx="1062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35563"/>
                </a:solidFill>
              </a:defRPr>
            </a:defPPr>
          </a:lstStyle>
          <a:p xmlns:a="http://schemas.openxmlformats.org/drawingml/2006/main">
            <a:pPr>
              <a:defRPr sz="1875" b="0">
                <a:solidFill>
                  <a:srgbClr val="435563"/>
                </a:solidFill>
              </a:defRPr>
            </a:pPr>
            <a:r>
              <a:rPr sz="1875" b="0">
                <a:solidFill>
                  <a:srgbClr val="435563"/>
                </a:solidFill>
              </a:rPr>
              <a:t>112 task trials · About 29 minutes of measurement, or 38 minutes including planned breaks</a:t>
            </a:r>
          </a:p>
        </p:txBody>
      </p:sp>
    </p:spTree>
    <p:extLst>
      <p:ext uri="{BB962C8B-B14F-4D97-AF65-F5344CB8AC3E}">
        <p14:creationId xmlns:p14="http://schemas.microsoft.com/office/powerpoint/2010/main" val="62939335"/>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C2822C-97B9-4D0E-9530-BE0761DA0EF0}"/>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Remaining work and next steps</a:t>
            </a:r>
          </a:p>
        </p:txBody>
      </p:sp>
      <p:sp>
        <p:nvSpPr>
          <p:cNvPr id="2" name="">
            <a:extLst xmlns:a="http://schemas.openxmlformats.org/drawingml/2006/main">
              <a:ext uri="{FF2B5EF4-FFF2-40B4-BE49-F238E27FC236}">
                <a16:creationId xmlns:a16="http://schemas.microsoft.com/office/drawing/2014/main" id="{A53AF34C-5A9B-4935-8758-1B6F368F1E38}"/>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07</a:t>
            </a:r>
          </a:p>
        </p:txBody>
      </p:sp>
      <p:sp>
        <p:nvSpPr>
          <p:cNvPr id="3" name="">
            <a:extLst xmlns:a="http://schemas.openxmlformats.org/drawingml/2006/main">
              <a:ext uri="{FF2B5EF4-FFF2-40B4-BE49-F238E27FC236}">
                <a16:creationId xmlns:a16="http://schemas.microsoft.com/office/drawing/2014/main" id="{CE373207-78B4-4090-A44D-ACD42B0AD3A3}"/>
              </a:ext>
            </a:extLst>
          </p:cNvPr>
          <p:cNvSpPr>
            <a:spLocks xmlns:a="http://schemas.openxmlformats.org/drawingml/2006/main" noGrp="1"/>
          </p:cNvSpPr>
          <p:nvPr/>
        </p:nvSpPr>
        <p:spPr>
          <a:xfrm xmlns:a="http://schemas.openxmlformats.org/drawingml/2006/main">
            <a:off x="704850" y="17240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Pilot validation</a:t>
            </a:r>
          </a:p>
        </p:txBody>
      </p:sp>
      <p:sp>
        <p:nvSpPr>
          <p:cNvPr id="4" name="">
            <a:extLst xmlns:a="http://schemas.openxmlformats.org/drawingml/2006/main">
              <a:ext uri="{FF2B5EF4-FFF2-40B4-BE49-F238E27FC236}">
                <a16:creationId xmlns:a16="http://schemas.microsoft.com/office/drawing/2014/main" id="{4779831C-3D31-405D-B781-956558A7B1BA}"/>
              </a:ext>
            </a:extLst>
          </p:cNvPr>
          <p:cNvSpPr>
            <a:spLocks xmlns:a="http://schemas.openxmlformats.org/drawingml/2006/main" noGrp="1"/>
          </p:cNvSpPr>
          <p:nvPr/>
        </p:nvSpPr>
        <p:spPr>
          <a:xfrm xmlns:a="http://schemas.openxmlformats.org/drawingml/2006/main">
            <a:off x="3981450" y="17240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Confirm headset behaviour, recording stability and instruction timing with participants.</a:t>
            </a:r>
          </a:p>
        </p:txBody>
      </p:sp>
      <p:sp>
        <p:nvSpPr>
          <p:cNvPr id="5" name="">
            <a:extLst xmlns:a="http://schemas.openxmlformats.org/drawingml/2006/main">
              <a:ext uri="{FF2B5EF4-FFF2-40B4-BE49-F238E27FC236}">
                <a16:creationId xmlns:a16="http://schemas.microsoft.com/office/drawing/2014/main" id="{48245500-1D70-4D6E-B534-BB5A830116AC}"/>
              </a:ext>
            </a:extLst>
          </p:cNvPr>
          <p:cNvSpPr>
            <a:spLocks xmlns:a="http://schemas.openxmlformats.org/drawingml/2006/main" noGrp="1"/>
          </p:cNvSpPr>
          <p:nvPr/>
        </p:nvSpPr>
        <p:spPr>
          <a:xfrm xmlns:a="http://schemas.openxmlformats.org/drawingml/2006/main">
            <a:off x="704850" y="28384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Experiment automation</a:t>
            </a:r>
          </a:p>
        </p:txBody>
      </p:sp>
      <p:sp>
        <p:nvSpPr>
          <p:cNvPr id="6" name="">
            <a:extLst xmlns:a="http://schemas.openxmlformats.org/drawingml/2006/main">
              <a:ext uri="{FF2B5EF4-FFF2-40B4-BE49-F238E27FC236}">
                <a16:creationId xmlns:a16="http://schemas.microsoft.com/office/drawing/2014/main" id="{A264BB56-05DA-4C02-BA33-9654B4EB36EC}"/>
              </a:ext>
            </a:extLst>
          </p:cNvPr>
          <p:cNvSpPr>
            <a:spLocks xmlns:a="http://schemas.openxmlformats.org/drawingml/2006/main" noGrp="1"/>
          </p:cNvSpPr>
          <p:nvPr/>
        </p:nvSpPr>
        <p:spPr>
          <a:xfrm xmlns:a="http://schemas.openxmlformats.org/drawingml/2006/main">
            <a:off x="3981450" y="28384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Implement the proposed trial sequence, randomisation and planned timing.</a:t>
            </a:r>
          </a:p>
        </p:txBody>
      </p:sp>
      <p:sp>
        <p:nvSpPr>
          <p:cNvPr id="7" name="">
            <a:extLst xmlns:a="http://schemas.openxmlformats.org/drawingml/2006/main">
              <a:ext uri="{FF2B5EF4-FFF2-40B4-BE49-F238E27FC236}">
                <a16:creationId xmlns:a16="http://schemas.microsoft.com/office/drawing/2014/main" id="{64812415-907E-429A-AAB6-D2C766FC6044}"/>
              </a:ext>
            </a:extLst>
          </p:cNvPr>
          <p:cNvSpPr>
            <a:spLocks xmlns:a="http://schemas.openxmlformats.org/drawingml/2006/main" noGrp="1"/>
          </p:cNvSpPr>
          <p:nvPr/>
        </p:nvSpPr>
        <p:spPr>
          <a:xfrm xmlns:a="http://schemas.openxmlformats.org/drawingml/2006/main">
            <a:off x="704850" y="39528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Scientific analysis</a:t>
            </a:r>
          </a:p>
        </p:txBody>
      </p:sp>
      <p:sp>
        <p:nvSpPr>
          <p:cNvPr id="8" name="">
            <a:extLst xmlns:a="http://schemas.openxmlformats.org/drawingml/2006/main">
              <a:ext uri="{FF2B5EF4-FFF2-40B4-BE49-F238E27FC236}">
                <a16:creationId xmlns:a16="http://schemas.microsoft.com/office/drawing/2014/main" id="{17B9FDE3-5C28-49E4-8830-669CB52D8691}"/>
              </a:ext>
            </a:extLst>
          </p:cNvPr>
          <p:cNvSpPr>
            <a:spLocks xmlns:a="http://schemas.openxmlformats.org/drawingml/2006/main" noGrp="1"/>
          </p:cNvSpPr>
          <p:nvPr/>
        </p:nvSpPr>
        <p:spPr>
          <a:xfrm xmlns:a="http://schemas.openxmlformats.org/drawingml/2006/main">
            <a:off x="3981450" y="39528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Define artifact handling and evaluate classifiers on held-out trials or blocks.</a:t>
            </a:r>
          </a:p>
        </p:txBody>
      </p:sp>
      <p:sp>
        <p:nvSpPr>
          <p:cNvPr id="9" name="">
            <a:extLst xmlns:a="http://schemas.openxmlformats.org/drawingml/2006/main">
              <a:ext uri="{FF2B5EF4-FFF2-40B4-BE49-F238E27FC236}">
                <a16:creationId xmlns:a16="http://schemas.microsoft.com/office/drawing/2014/main" id="{47163117-45DD-4283-9F13-9862EFB7547E}"/>
              </a:ext>
            </a:extLst>
          </p:cNvPr>
          <p:cNvSpPr>
            <a:spLocks xmlns:a="http://schemas.openxmlformats.org/drawingml/2006/main" noGrp="1"/>
          </p:cNvSpPr>
          <p:nvPr/>
        </p:nvSpPr>
        <p:spPr>
          <a:xfrm xmlns:a="http://schemas.openxmlformats.org/drawingml/2006/main">
            <a:off x="704850" y="50673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EEG–MEG comparison</a:t>
            </a:r>
          </a:p>
        </p:txBody>
      </p:sp>
      <p:sp>
        <p:nvSpPr>
          <p:cNvPr id="10" name="">
            <a:extLst xmlns:a="http://schemas.openxmlformats.org/drawingml/2006/main">
              <a:ext uri="{FF2B5EF4-FFF2-40B4-BE49-F238E27FC236}">
                <a16:creationId xmlns:a16="http://schemas.microsoft.com/office/drawing/2014/main" id="{A70EBAC5-5933-4421-91F2-4CF59AC4AA62}"/>
              </a:ext>
            </a:extLst>
          </p:cNvPr>
          <p:cNvSpPr>
            <a:spLocks xmlns:a="http://schemas.openxmlformats.org/drawingml/2006/main" noGrp="1"/>
          </p:cNvSpPr>
          <p:nvPr/>
        </p:nvSpPr>
        <p:spPr>
          <a:xfrm xmlns:a="http://schemas.openxmlformats.org/drawingml/2006/main">
            <a:off x="3981450" y="50673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Choose comparable tasks and evaluation measures, then assess performance.</a:t>
            </a:r>
          </a:p>
        </p:txBody>
      </p:sp>
    </p:spTree>
    <p:extLst>
      <p:ext uri="{BB962C8B-B14F-4D97-AF65-F5344CB8AC3E}">
        <p14:creationId xmlns:p14="http://schemas.microsoft.com/office/powerpoint/2010/main" val="20537438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2026-10-15T13:45:40.6990000Z</dcterms:created>
  <dcterms:modified xsi:type="dcterms:W3CDTF">2026-10-15T13:45:40.6990000Z</dcterms:modified>
</coreProperties>
</file>