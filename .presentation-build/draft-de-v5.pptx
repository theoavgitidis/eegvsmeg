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23b6bda92541c7" /><Relationship Type="http://schemas.openxmlformats.org/officeDocument/2006/relationships/extended-properties" Target="/docProps/app.xml" Id="Rc928a56b518f4f5f" /><Relationship Type="http://schemas.openxmlformats.org/officeDocument/2006/relationships/officeDocument" Target="/ppt/presentation.xml" Id="R2bec7ebd48f84a8a" /></Relationships>
</file>

<file path=ppt/presentation.xml><?xml version="1.0" encoding="utf-8"?>
<p:presentation xmlns:p="http://schemas.openxmlformats.org/presentationml/2006/main">
  <p:sldMasterIdLst>
    <p:sldMasterId xmlns:r="http://schemas.openxmlformats.org/officeDocument/2006/relationships" id="2147483648" r:id="Rb9423b7339934da5"/>
  </p:sldMasterIdLst>
  <p:notesMasterIdLst>
    <p:notesMasterId xmlns:r="http://schemas.openxmlformats.org/officeDocument/2006/relationships" r:id="R040f280df5584153"/>
  </p:notesMasterIdLst>
  <p:sldIdLst>
    <p:sldId xmlns:r="http://schemas.openxmlformats.org/officeDocument/2006/relationships" id="256" r:id="Rc67482c7489d4043"/>
    <p:sldId xmlns:r="http://schemas.openxmlformats.org/officeDocument/2006/relationships" id="257" r:id="R9a845964e89f4047"/>
    <p:sldId xmlns:r="http://schemas.openxmlformats.org/officeDocument/2006/relationships" id="258" r:id="R9a22d47b18864b07"/>
    <p:sldId xmlns:r="http://schemas.openxmlformats.org/officeDocument/2006/relationships" id="259" r:id="Rdb8fd6da2c794c56"/>
    <p:sldId xmlns:r="http://schemas.openxmlformats.org/officeDocument/2006/relationships" id="260" r:id="R8a106463d1304d02"/>
    <p:sldId xmlns:r="http://schemas.openxmlformats.org/officeDocument/2006/relationships" id="261" r:id="R7794534b78f947f8"/>
    <p:sldId xmlns:r="http://schemas.openxmlformats.org/officeDocument/2006/relationships" id="262" r:id="Rb96162a0cb9a4103"/>
    <p:sldId xmlns:r="http://schemas.openxmlformats.org/officeDocument/2006/relationships" id="263" r:id="Re9d00c1564044d54"/>
    <p:sldId xmlns:r="http://schemas.openxmlformats.org/officeDocument/2006/relationships" id="264" r:id="R03bd41524e4b41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cd5d8d8ab24d5c" /><Relationship Type="http://schemas.openxmlformats.org/officeDocument/2006/relationships/slideMaster" Target="/ppt/slideMasters/slideMaster1.xml" Id="Rb9423b7339934da5" /><Relationship Type="http://schemas.openxmlformats.org/officeDocument/2006/relationships/notesMaster" Target="/ppt/notesMasters/notesMaster1.xml" Id="R040f280df5584153" /><Relationship Type="http://schemas.openxmlformats.org/officeDocument/2006/relationships/presProps" Target="/ppt/presProps.xml" Id="R0ea39eda8ab243ca" /><Relationship Type="http://schemas.openxmlformats.org/officeDocument/2006/relationships/tableStyles" Target="/ppt/tableStyles.xml" Id="Radfc5cf112bd41d9" /><Relationship Type="http://schemas.openxmlformats.org/officeDocument/2006/relationships/slide" Target="/ppt/slides/slide1.xml" Id="Rc67482c7489d4043" /><Relationship Type="http://schemas.openxmlformats.org/officeDocument/2006/relationships/slide" Target="/ppt/slides/slide2.xml" Id="R9a845964e89f4047" /><Relationship Type="http://schemas.openxmlformats.org/officeDocument/2006/relationships/slide" Target="/ppt/slides/slide3.xml" Id="R9a22d47b18864b07" /><Relationship Type="http://schemas.openxmlformats.org/officeDocument/2006/relationships/slide" Target="/ppt/slides/slide4.xml" Id="Rdb8fd6da2c794c56" /><Relationship Type="http://schemas.openxmlformats.org/officeDocument/2006/relationships/slide" Target="/ppt/slides/slide5.xml" Id="R8a106463d1304d02" /><Relationship Type="http://schemas.openxmlformats.org/officeDocument/2006/relationships/slide" Target="/ppt/slides/slide6.xml" Id="R7794534b78f947f8" /><Relationship Type="http://schemas.openxmlformats.org/officeDocument/2006/relationships/slide" Target="/ppt/slides/slide7.xml" Id="Rb96162a0cb9a4103" /><Relationship Type="http://schemas.openxmlformats.org/officeDocument/2006/relationships/slide" Target="/ppt/slides/slide8.xml" Id="Re9d00c1564044d54" /><Relationship Type="http://schemas.openxmlformats.org/officeDocument/2006/relationships/slide" Target="/ppt/slides/slide9.xml" Id="R03bd41524e4b41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77a25e2f7f4b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07156ddd794b22" /><Relationship Type="http://schemas.openxmlformats.org/officeDocument/2006/relationships/notesMaster" Target="/ppt/notesMasters/notesMaster1.xml" Id="R47d676bc5efd4c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d613e5db07481c" /><Relationship Type="http://schemas.openxmlformats.org/officeDocument/2006/relationships/notesMaster" Target="/ppt/notesMasters/notesMaster1.xml" Id="R55a11c06233d4d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6abdb8535f407d" /><Relationship Type="http://schemas.openxmlformats.org/officeDocument/2006/relationships/notesMaster" Target="/ppt/notesMasters/notesMaster1.xml" Id="Rea5d8991339f40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61d8e03a224aed" /><Relationship Type="http://schemas.openxmlformats.org/officeDocument/2006/relationships/notesMaster" Target="/ppt/notesMasters/notesMaster1.xml" Id="R0d7ee783f42c4f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f04bbed50348b0" /><Relationship Type="http://schemas.openxmlformats.org/officeDocument/2006/relationships/notesMaster" Target="/ppt/notesMasters/notesMaster1.xml" Id="R626309558eeb47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46093620f74c27" /><Relationship Type="http://schemas.openxmlformats.org/officeDocument/2006/relationships/notesMaster" Target="/ppt/notesMasters/notesMaster1.xml" Id="Raa5e5cfb50fb47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a3d3e6d4ae40db" /><Relationship Type="http://schemas.openxmlformats.org/officeDocument/2006/relationships/notesMaster" Target="/ppt/notesMasters/notesMaster1.xml" Id="Rf3b8c3fd357840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1f6ee91ece4436" /><Relationship Type="http://schemas.openxmlformats.org/officeDocument/2006/relationships/notesMaster" Target="/ppt/notesMasters/notesMaster1.xml" Id="Rc323e930078845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77f90623e64d8e" /><Relationship Type="http://schemas.openxmlformats.org/officeDocument/2006/relationships/notesMaster" Target="/ppt/notesMasters/notesMaster1.xml" Id="R99284ac06ce34e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Schwerpunkt dieses Zwischenstands sind die implementierte Erfassungssoftware und die Vorbereitung der ersten Datenerhebung am Montag, 19. Oktober 2026. Termin laut Projektplanung des Präsentierenden.</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Unicorn Suite umfasst Recorder, Bandpower und Entwicklungswerkzeuge wie die C-API. Im Recorder lassen sich EEG-Daten erfassen, darstellen, filtern und speichern. Notch- und Bandpassfilter sowie OSCAR sind Herstellerfunktionen, keine Eigenimplementierung. Unicorn Bandpower schätzt Bandenergie fortlaufend über acht Kanäle und bietet eine UDP-Schnittstelle zur Weitergabe. Kanal und Frequenzband sind unterschiedliche Dimensionen: Ein Kanal beschreibt eine Elektrodenposition, ein Frequenzband einen Bereich im Signal dieses Kanals. Bandpower ist ein berechnetes Merkmal, keine alternative Elektrodenaufnahme. Für die Projektpipeline werden die Kanal-Zeitreihen mit Ereignisdatei gespeichert und Frequenzmerkmale anschließend berechnet. Ein direkter Dateiexport der Bandpower-Werte wird hier nicht behauptet. Mit diesen Frequenzmerkmalen lässt sich ein technischer Proof of Concept einfach aufbauen: Nach einer Ruhe- und Aufgabenaufnahme wird eine individuelle Änderung der Bandpower als Schwellwert für eine Anzeige oder ein Steuersignal verwendet. Konzentriertes oder anstrengendes Kopfrechnen ist ein mögliches Testszenario. Ob die Änderung die Aufgabe zuverlässig abbildet, muss pro Person geprüft werden. Bandpower ist kein eindeutiger Konzentrationsmesser und kann auch durch Augen- oder Muskelaktivität beeinflusst werden. Der PoC ist eine vorgeschlagene Erweiterung und noch nicht implementiert. Herstellerquelle: https://www.gtec.at/product/unicorn-suite/ (abgerufen am 16. Oktober 2026).</a:t>
            </a:r>
          </a:p>
          <a:p xmlns:a="http://schemas.openxmlformats.org/drawingml/2006/main">
            <a:r>
              <a:t/>
            </a:r>
          </a:p>
          <a:p xmlns:a="http://schemas.openxmlformats.org/drawingml/2006/main">
            <a:r>
              <a:t>Project sources:</a:t>
            </a:r>
          </a:p>
          <a:p xmlns:a="http://schemas.openxmlformats.org/drawingml/2006/main">
            <a:r>
              <a:t>/Users/theoa/Desktop/Projects/EEGvsMEG/docs/manual/unicorn-hybrid-black-and-suite-summary.md</a:t>
            </a:r>
          </a:p>
          <a:p xmlns:a="http://schemas.openxmlformats.org/drawingml/2006/main">
            <a:r>
              <a:t>/Users/theoa/Desktop/Projects/EEGvsMEG/gtec_Clib/terminal/recorder.h</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CLI ist in C++ implementiert und kapselt die Hersteller-C-API. Sie unterstützt Bluetooth-Diagnose, Gerätesuche, Geräteinformationen, Kanalwahl und manuelle Datenerfassung. Digitale Ausgänge können abhängig vom Headset gelesen und gesetzt werden. Der Hintergrundrekorder vermeidet konkurrierende API-Zugriffe und meldet Fehler, Zählerunterbrechungen sowie Batterie- und Validierungswerte, sofern aktiviert. Reale Erfassung benötigt Windows x64, Hersteller-DLL, Bluetooth und Headset. Die Beispiele setzen ein gekoppeltes Gerät und eine ausgewählte Versuchsablage voraus.</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/Users/theoa/Desktop/Projects/EEGvsMEG/gtec_Clib/terminal/recorder.h</a:t>
            </a:r>
          </a:p>
          <a:p xmlns:a="http://schemas.openxmlformats.org/drawingml/2006/main">
            <a:r>
              <a:t>/Users/theoa/Desktop/Projects/EEGvsMEG/gtec_Clib/terminal/experiments.h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Voraussetzung für die mark-Beispiele ist eine aktive Hintergrundaufnahme. Bei geöffnetem Teilnehmerfenster wird die Anzeige automatisch aus dem Marker abgeleitet: Hände hochheben, Beine hochheben, Fixationskreuz oder parametrisierte Rechenanweisung. Eigene cue-Befehle verknüpfen Marker und frei formulierten Anzeigetext, etwa für Imagery oder Blinzeln. Der Versuchsleiter löst den Szenariowechsel aus. Die automatische Anzeige ist implementiert, eine selbstständig zeitgesteuerte und randomisierte Trial-Abfolge noch nicht. Marker basieren auf Hostzeit und empfangenen Samples und erlauben nur eine ungefähre zeitliche Zuordnung.</a:t>
            </a:r>
          </a:p>
          <a:p xmlns:a="http://schemas.openxmlformats.org/drawingml/2006/main">
            <a:r>
              <a:t/>
            </a:r>
          </a:p>
          <a:p xmlns:a="http://schemas.openxmlformats.org/drawingml/2006/main">
            <a:r>
              <a:t>Project sources:</a:t>
            </a:r>
          </a:p>
          <a:p xmlns:a="http://schemas.openxmlformats.org/drawingml/2006/main">
            <a:r>
              <a:t>/Users/theoa/Desktop/Projects/EEGvsMEG/gtec_Clib/terminal/main.cpp</a:t>
            </a:r>
          </a:p>
          <a:p xmlns:a="http://schemas.openxmlformats.org/drawingml/2006/main">
            <a:r>
              <a:t>/Users/theoa/Desktop/Projects/EEGvsMEG/gtec_Clib/terminal/cues.h</a:t>
            </a:r>
          </a:p>
          <a:p xmlns:a="http://schemas.openxmlformats.org/drawingml/2006/main">
            <a:r>
              <a:t>/Users/theoa/Desktop/Projects/EEGvsMEG/gtec_Clib/terminal/recorder.h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tatsächliche Bewegung soll klein, bequem und vorab geübt sein. Bei Imagery bleibt der Körper ruhig und die Versuchsperson konzentriert sich auf das Bewegungsgefühl. Das Blinzeln dient auch der Erfassung des Augensignals und wird gesondert ausgewertet. Rechenschwierigkeit und einheitliche Bewegungsdefinition vor der Messung prüfen. Wortgenerierung gehört zur früheren erweiterten Planung, ist im aktuellen Pilotprotokoll vom 13. Oktober nicht vorgesehen. Eine mögliche spätere Erweiterung ist stille Wortgenerierung zu einem Buchstaben oder einer Kategorie.</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a:p xmlns:a="http://schemas.openxmlformats.org/drawingml/2006/main">
            <a:r>
              <a:t>/Users/theoa/Desktop/Projects/EEGvsMEG/docs/plannedExperiments/wordGeneration.md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Motorik: vier Blöcke mit je 15 Trials, insgesamt 60. Imagery: vier Blöcke mit je zehn Trials, insgesamt 40. Rechnen: drei Blöcke mit je vier Trials. Erholungszeiten sind je Bedingung ausgeglichen verteilt. Aufgaben innerhalb eines Blocks sollen zufällig angeordnet werden, höchstens zweimal dieselbe Aufgabe unmittelbar hintereinander. Die konkrete Trial-Liste und der Zufallsseed sollen gespeichert werden. Die Reihenfolge der Hauptläufe soll über Personen möglichst ausgeglichen sein. Dies sind geplante Protokollvorgaben. Eine automatische Ablaufsteuerung ist noch zu ergänzen. Rest bezeichnet die Erholung zwischen Aufgaben, keine zusätzliche Aufgabenklasse mit separaten Trials.</a:t>
            </a:r>
          </a:p>
          <a:p xmlns:a="http://schemas.openxmlformats.org/drawingml/2006/main">
            <a:r>
              <a:t/>
            </a:r>
          </a:p>
          <a:p xmlns:a="http://schemas.openxmlformats.org/drawingml/2006/main">
            <a:r>
              <a:t>Project sources:</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Aufnahme erfolgt über die bestehende, in C++ geschriebene CLI mit der g.tec-C-API. Die Auswertung ist in Python vorgesehen. Das vorhandene Python-Skript analysis/view_eeg.py nutzt bereits MNE und NumPy zum Einlesen und Prüfen der Daten sowie zur Anzeige von EEG-Kurven und Frequenzspektren. Die weiteren Schritte zur Aufgabenaufteilung, Merkmalsberechnung und Modellbewertung werden darauf aufgebaut. Aufgabenmarker erlauben derzeit eine ungefähre zeitliche Zuordnung. Bewegungs- und Blinzelartefakte müssen passend zum Szenario beurteilt werden. Daten für den abschließenden Test bleiben vom Training getrennt, wobei Abschnitte desselben Trials zusammenbleiben.</a:t>
            </a:r>
          </a:p>
          <a:p xmlns:a="http://schemas.openxmlformats.org/drawingml/2006/main">
            <a:r>
              <a:t/>
            </a:r>
          </a:p>
          <a:p xmlns:a="http://schemas.openxmlformats.org/drawingml/2006/main">
            <a:r>
              <a:t>Project sources:</a:t>
            </a:r>
          </a:p>
          <a:p xmlns:a="http://schemas.openxmlformats.org/drawingml/2006/main">
            <a:r>
              <a:t>/Users/theoa/Desktop/Projects/EEGvsMEG/analysis/view_eeg.py</a:t>
            </a:r>
          </a:p>
          <a:p xmlns:a="http://schemas.openxmlformats.org/drawingml/2006/main">
            <a:r>
              <a:t>/Users/theoa/Desktop/Projects/EEGvsMEG/gtec_Clib/terminal/main.cpp</a:t>
            </a:r>
          </a:p>
          <a:p xmlns:a="http://schemas.openxmlformats.org/drawingml/2006/main">
            <a:r>
              <a:t>/Users/theoa/Desktop/Projects/EEGvsMEG/docs/experiment-protocol.md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 gemäß Angabe des Präsentierenden: erster Lauf am kommenden Montag, 19. Oktober 2026. Vorhanden sind Betriebsanleitung, Hardwareübersicht, Aufgabenbeschreibungen, Pilotprotokoll sowie Teilnehmerinformation und Einwilligung. Die hardwarefreien Integrationstests bestanden am 15. Oktober: unter anderem Aufzeichnung, Marker, Versuchsordner, Pfad- und Überschreibschutz sowie simulierte Verbindungsfehler. Diese Tests ersetzen die praktische Prüfung am Headset nicht. Ziel des ersten Laufs sind verwertbare Daten und Rückmeldungen zur Durchführbarkeit, noch keine abschließende Aussage zur Klassifikationsleistung.</a:t>
            </a:r>
          </a:p>
          <a:p xmlns:a="http://schemas.openxmlformats.org/drawingml/2006/main">
            <a:r>
              <a:t/>
            </a:r>
          </a:p>
          <a:p xmlns:a="http://schemas.openxmlformats.org/drawingml/2006/main">
            <a:r>
              <a:t>Project sources:</a:t>
            </a:r>
          </a:p>
          <a:p xmlns:a="http://schemas.openxmlformats.org/drawingml/2006/main">
            <a:r>
              <a:t>/Users/theoa/Desktop/Projects/EEGvsMEG/docs/Einwilligungserklaerung_EEG-Studie.html</a:t>
            </a:r>
          </a:p>
          <a:p xmlns:a="http://schemas.openxmlformats.org/drawingml/2006/main">
            <a:r>
              <a:t>/Users/theoa/Desktop/Projects/EEGvsMEG/docs/experiment-protocol.md</a:t>
            </a:r>
          </a:p>
          <a:p xmlns:a="http://schemas.openxmlformats.org/drawingml/2006/main">
            <a:r>
              <a:t>/Users/theoa/Desktop/Projects/EEGvsMEG/gtec_Clib/terminal/test_recorder.py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Vollständige eigenständige Anleitung: presentations/Demo_Anleitung_DE.md.</a:t>
            </a:r>
          </a:p>
          <a:p xmlns:a="http://schemas.openxmlformats.org/drawingml/2006/main">
            <a:r>
              <a:t/>
            </a:r>
          </a:p>
          <a:p xmlns:a="http://schemas.openxmlformats.org/drawingml/2006/main">
            <a:r>
              <a:t># Eigenständige Demo: Build, Start und EEG-Aufnahme</a:t>
            </a:r>
          </a:p>
          <a:p xmlns:a="http://schemas.openxmlformats.org/drawingml/2006/main">
            <a:r>
              <a:t/>
            </a:r>
          </a:p>
          <a:p xmlns:a="http://schemas.openxmlformats.org/drawingml/2006/main">
            <a:r>
              <a:t>## 1. Voraussetzungen unter Windows</a:t>
            </a:r>
          </a:p>
          <a:p xmlns:a="http://schemas.openxmlformats.org/drawingml/2006/main">
            <a:r>
              <a:t/>
            </a:r>
          </a:p>
          <a:p xmlns:a="http://schemas.openxmlformats.org/drawingml/2006/main">
            <a:r>
              <a:t>Windows 64 Bit, Visual Studio 2022 oder Build Tools mit „Desktopentwicklung mit C++“ und Windows SDK sowie CMake installieren. Das Projekt muss inklusive `gtec_Clib/lib/Unicorn.dll` und `Unicorn.lib` lokal vorliegen. Headset einschalten und über Windows oder Unicorn Suite koppeln. Unicorn Recorder und andere Programme, die das Headset benutzen, vor der CLI-Demo schließen.</a:t>
            </a:r>
          </a:p>
          <a:p xmlns:a="http://schemas.openxmlformats.org/drawingml/2006/main">
            <a:r>
              <a:t/>
            </a:r>
          </a:p>
          <a:p xmlns:a="http://schemas.openxmlformats.org/drawingml/2006/main">
            <a:r>
              <a:t>Die Anwendung mit der Hersteller-DLL läuft unter Windows, nicht direkt unter macOS. Die Demo zeigt manuell ausgelöste Szenariowechsel und ist kein vollständiger Studienlauf.</a:t>
            </a:r>
          </a:p>
          <a:p xmlns:a="http://schemas.openxmlformats.org/drawingml/2006/main">
            <a:r>
              <a:t/>
            </a:r>
          </a:p>
          <a:p xmlns:a="http://schemas.openxmlformats.org/drawingml/2006/main">
            <a:r>
              <a:t>## 2. Bauen und starten in PowerShell</a:t>
            </a:r>
          </a:p>
          <a:p xmlns:a="http://schemas.openxmlformats.org/drawingml/2006/main">
            <a:r>
              <a:t/>
            </a:r>
          </a:p>
          <a:p xmlns:a="http://schemas.openxmlformats.org/drawingml/2006/main">
            <a:r>
              <a:t>Den Beispielpfad in der ersten Zeile an den eigenen Windows-Projektordner anpassen. Alle folgenden Build-Befehle laufen aus diesem Ordner. Der neue Build-Ordner `build-demo` vermeidet Konflikte mit vorhandenen Build-Konfigurationen.</a:t>
            </a:r>
          </a:p>
          <a:p xmlns:a="http://schemas.openxmlformats.org/drawingml/2006/main">
            <a:r>
              <a:t/>
            </a:r>
          </a:p>
          <a:p xmlns:a="http://schemas.openxmlformats.org/drawingml/2006/main">
            <a:r>
              <a:t>```powershell</a:t>
            </a:r>
          </a:p>
          <a:p xmlns:a="http://schemas.openxmlformats.org/drawingml/2006/main">
            <a:r>
              <a:t>cd "C:\Projekte\EEGvsMEG"</a:t>
            </a:r>
          </a:p>
          <a:p xmlns:a="http://schemas.openxmlformats.org/drawingml/2006/main">
            <a:r>
              <a:t>cmake -S gtec_Clib/terminal -B gtec_Clib/terminal/build-demo -G "Visual Studio 17 2022" -A x64</a:t>
            </a:r>
          </a:p>
          <a:p xmlns:a="http://schemas.openxmlformats.org/drawingml/2006/main">
            <a:r>
              <a:t>cmake --build gtec_Clib/terminal/build-demo --config Release</a:t>
            </a:r>
          </a:p>
          <a:p xmlns:a="http://schemas.openxmlformats.org/drawingml/2006/main">
            <a:r>
              <a:t>&amp; .\gtec_Clib\terminal\build-demo\Release\unicorn_terminal.exe</a:t>
            </a:r>
          </a:p>
          <a:p xmlns:a="http://schemas.openxmlformats.org/drawingml/2006/main">
            <a:r>
              <a:t>```</a:t>
            </a:r>
          </a:p>
          <a:p xmlns:a="http://schemas.openxmlformats.org/drawingml/2006/main">
            <a:r>
              <a:t/>
            </a:r>
          </a:p>
          <a:p xmlns:a="http://schemas.openxmlformats.org/drawingml/2006/main">
            <a:r>
              <a:t>CMake kopiert die Hersteller-DLL automatisch neben die EXE. Bei erneutem Bauen eine laufende CLI zuerst mit `quit` beenden. Bei späteren Starts genügt die letzte Zeile.</a:t>
            </a:r>
          </a:p>
          <a:p xmlns:a="http://schemas.openxmlformats.org/drawingml/2006/main">
            <a:r>
              <a:t/>
            </a:r>
          </a:p>
          <a:p xmlns:a="http://schemas.openxmlformats.org/drawingml/2006/main">
            <a:r>
              <a:t>## 3. Befehle in der gestarteten CLI</a:t>
            </a:r>
          </a:p>
          <a:p xmlns:a="http://schemas.openxmlformats.org/drawingml/2006/main">
            <a:r>
              <a:t/>
            </a:r>
          </a:p>
          <a:p xmlns:a="http://schemas.openxmlformats.org/drawingml/2006/main">
            <a:r>
              <a:t>Jeden Befehl einzeln eingeben und die Ausgabe prüfen. `scan paired` liefert die Seriennummer. In der Zeile `open DEINE_SERIENNUMMER` den Platzhalter durch diese Ausgabe ersetzen. Einen neuen Versuchsordnernamen wählen, falls `Demo_01` bereits existiert, oder mit `GoToExp "Demo_01"` den vorhandenen Ordner auswählen. Eine neue CSV-Datei verwenden, wenn `VP01_demo.csv` schon existiert.</a:t>
            </a:r>
          </a:p>
          <a:p xmlns:a="http://schemas.openxmlformats.org/drawingml/2006/main">
            <a:r>
              <a:t/>
            </a:r>
          </a:p>
          <a:p xmlns:a="http://schemas.openxmlformats.org/drawingml/2006/main">
            <a:r>
              <a:t>```text</a:t>
            </a:r>
          </a:p>
          <a:p xmlns:a="http://schemas.openxmlformats.org/drawingml/2006/main">
            <a:r>
              <a:t>NewExp "Demo_01"</a:t>
            </a:r>
          </a:p>
          <a:p xmlns:a="http://schemas.openxmlformats.org/drawingml/2006/main">
            <a:r>
              <a:t>Where</a:t>
            </a:r>
          </a:p>
          <a:p xmlns:a="http://schemas.openxmlformats.org/drawingml/2006/main">
            <a:r>
              <a:t>version</a:t>
            </a:r>
          </a:p>
          <a:p xmlns:a="http://schemas.openxmlformats.org/drawingml/2006/main">
            <a:r>
              <a:t>bluetooth</a:t>
            </a:r>
          </a:p>
          <a:p xmlns:a="http://schemas.openxmlformats.org/drawingml/2006/main">
            <a:r>
              <a:t>scan paired</a:t>
            </a:r>
          </a:p>
          <a:p xmlns:a="http://schemas.openxmlformats.org/drawingml/2006/main">
            <a:r>
              <a:t>open DEINE_SERIENNUMMER</a:t>
            </a:r>
          </a:p>
          <a:p xmlns:a="http://schemas.openxmlformats.org/drawingml/2006/main">
            <a:r>
              <a:t>info</a:t>
            </a:r>
          </a:p>
          <a:p xmlns:a="http://schemas.openxmlformats.org/drawingml/2006/main">
            <a:r>
              <a:t>config</a:t>
            </a:r>
          </a:p>
          <a:p xmlns:a="http://schemas.openxmlformats.org/drawingml/2006/main">
            <a:r>
              <a:t>channels</a:t>
            </a:r>
          </a:p>
          <a:p xmlns:a="http://schemas.openxmlformats.org/drawingml/2006/main">
            <a:r>
              <a:t>cue open</a:t>
            </a:r>
          </a:p>
          <a:p xmlns:a="http://schemas.openxmlformats.org/drawingml/2006/main">
            <a:r>
              <a:t>record 0 "VP01_demo.csv" real</a:t>
            </a:r>
          </a:p>
          <a:p xmlns:a="http://schemas.openxmlformats.org/drawingml/2006/main">
            <a:r>
              <a:t>mark baseline</a:t>
            </a:r>
          </a:p>
          <a:p xmlns:a="http://schemas.openxmlformats.org/drawingml/2006/main">
            <a:r>
              <a:t>```</a:t>
            </a:r>
          </a:p>
          <a:p xmlns:a="http://schemas.openxmlformats.org/drawingml/2006/main">
            <a:r>
              <a:t/>
            </a:r>
          </a:p>
          <a:p xmlns:a="http://schemas.openxmlformats.org/drawingml/2006/main">
            <a:r>
              <a:t>Jetzt etwa 5 Sekunden ruhig auf das Fixationskreuz schauen. Danach die folgende Reihenfolge manuell durchführen. Die Angaben zu Wartezeiten sind Anweisungen für den Vorführenden und keine CLI-Befehle.</a:t>
            </a:r>
          </a:p>
          <a:p xmlns:a="http://schemas.openxmlformats.org/drawingml/2006/main">
            <a:r>
              <a:t/>
            </a:r>
          </a:p>
          <a:p xmlns:a="http://schemas.openxmlformats.org/drawingml/2006/main">
            <a:r>
              <a:t>1. `mark hands_up` eingeben. Beide Unterarme kurz anheben und wieder ablegen, nach etwa 4 Sekunden fortfahren.</a:t>
            </a:r>
          </a:p>
          <a:p xmlns:a="http://schemas.openxmlformats.org/drawingml/2006/main">
            <a:r>
              <a:t>2. `mark rest` eingeben. Etwa 7 Sekunden ruhig sitzen.</a:t>
            </a:r>
          </a:p>
          <a:p xmlns:a="http://schemas.openxmlformats.org/drawingml/2006/main">
            <a:r>
              <a:t>3. `mark legs_up` eingeben. Beide Füße kurz anheben und wieder absetzen, nach etwa 4 Sekunden fortfahren.</a:t>
            </a:r>
          </a:p>
          <a:p xmlns:a="http://schemas.openxmlformats.org/drawingml/2006/main">
            <a:r>
              <a:t>4. `mark rest` eingeben. Etwa 7 Sekunden ruhig sitzen.</a:t>
            </a:r>
          </a:p>
          <a:p xmlns:a="http://schemas.openxmlformats.org/drawingml/2006/main">
            <a:r>
              <a:t>5. `cue imagery_arms | Stelle dir vor, beide Unterarme anzuheben.` eingeben. Etwa 4 Sekunden nur vorstellen, ohne Bewegung.</a:t>
            </a:r>
          </a:p>
          <a:p xmlns:a="http://schemas.openxmlformats.org/drawingml/2006/main">
            <a:r>
              <a:t>6. `mark rest` eingeben. Etwa 7 Sekunden ruhig sitzen.</a:t>
            </a:r>
          </a:p>
          <a:p xmlns:a="http://schemas.openxmlformats.org/drawingml/2006/main">
            <a:r>
              <a:t>7. `mark subtract 7 from 347` eingeben. Etwa 10 Sekunden still fortlaufend 7 abziehen.</a:t>
            </a:r>
          </a:p>
          <a:p xmlns:a="http://schemas.openxmlformats.org/drawingml/2006/main">
            <a:r>
              <a:t>8. `mark rest` eingeben. Etwa 5 Sekunden ruhig sitzen.</a:t>
            </a:r>
          </a:p>
          <a:p xmlns:a="http://schemas.openxmlformats.org/drawingml/2006/main">
            <a:r>
              <a:t/>
            </a:r>
          </a:p>
          <a:p xmlns:a="http://schemas.openxmlformats.org/drawingml/2006/main">
            <a:r>
              <a:t>Die Befehlsfolge im Überblick, ohne Warteanweisungen:</a:t>
            </a:r>
          </a:p>
          <a:p xmlns:a="http://schemas.openxmlformats.org/drawingml/2006/main">
            <a:r>
              <a:t/>
            </a:r>
          </a:p>
          <a:p xmlns:a="http://schemas.openxmlformats.org/drawingml/2006/main">
            <a:r>
              <a:t>```text</a:t>
            </a:r>
          </a:p>
          <a:p xmlns:a="http://schemas.openxmlformats.org/drawingml/2006/main">
            <a:r>
              <a:t>mark hands_up</a:t>
            </a:r>
          </a:p>
          <a:p xmlns:a="http://schemas.openxmlformats.org/drawingml/2006/main">
            <a:r>
              <a:t>mark rest</a:t>
            </a:r>
          </a:p>
          <a:p xmlns:a="http://schemas.openxmlformats.org/drawingml/2006/main">
            <a:r>
              <a:t>mark legs_up</a:t>
            </a:r>
          </a:p>
          <a:p xmlns:a="http://schemas.openxmlformats.org/drawingml/2006/main">
            <a:r>
              <a:t>mark rest</a:t>
            </a:r>
          </a:p>
          <a:p xmlns:a="http://schemas.openxmlformats.org/drawingml/2006/main">
            <a:r>
              <a:t>cue imagery_arms | Stelle dir vor, beide Unterarme anzuheben.</a:t>
            </a:r>
          </a:p>
          <a:p xmlns:a="http://schemas.openxmlformats.org/drawingml/2006/main">
            <a:r>
              <a:t>mark rest</a:t>
            </a:r>
          </a:p>
          <a:p xmlns:a="http://schemas.openxmlformats.org/drawingml/2006/main">
            <a:r>
              <a:t>mark subtract 7 from 347</a:t>
            </a:r>
          </a:p>
          <a:p xmlns:a="http://schemas.openxmlformats.org/drawingml/2006/main">
            <a:r>
              <a:t>mark rest</a:t>
            </a:r>
          </a:p>
          <a:p xmlns:a="http://schemas.openxmlformats.org/drawingml/2006/main">
            <a:r>
              <a:t>status</a:t>
            </a:r>
          </a:p>
          <a:p xmlns:a="http://schemas.openxmlformats.org/drawingml/2006/main">
            <a:r>
              <a:t>stop</a:t>
            </a:r>
          </a:p>
          <a:p xmlns:a="http://schemas.openxmlformats.org/drawingml/2006/main">
            <a:r>
              <a:t>status</a:t>
            </a:r>
          </a:p>
          <a:p xmlns:a="http://schemas.openxmlformats.org/drawingml/2006/main">
            <a:r>
              <a:t>cue close</a:t>
            </a:r>
          </a:p>
          <a:p xmlns:a="http://schemas.openxmlformats.org/drawingml/2006/main">
            <a:r>
              <a:t>close</a:t>
            </a:r>
          </a:p>
          <a:p xmlns:a="http://schemas.openxmlformats.org/drawingml/2006/main">
            <a:r>
              <a:t>quit</a:t>
            </a:r>
          </a:p>
          <a:p xmlns:a="http://schemas.openxmlformats.org/drawingml/2006/main">
            <a:r>
              <a:t>```</a:t>
            </a:r>
          </a:p>
          <a:p xmlns:a="http://schemas.openxmlformats.org/drawingml/2006/main">
            <a:r>
              <a:t/>
            </a:r>
          </a:p>
          <a:p xmlns:a="http://schemas.openxmlformats.org/drawingml/2006/main">
            <a:r>
              <a:t>`cue LABEL | TEXT` gehört vollständig in die CLI, nicht in PowerShell. Das Zeichen `|` trennt dort Marker und Anzeigetext. Das Teilnehmerfenster kann nach `cue open` mit F11 in den Vollbildmodus wechseln. Zum Eingeben weiterer Befehle wieder die CLI fokussieren.</a:t>
            </a:r>
          </a:p>
          <a:p xmlns:a="http://schemas.openxmlformats.org/drawingml/2006/main">
            <a:r>
              <a:t/>
            </a:r>
          </a:p>
          <a:p xmlns:a="http://schemas.openxmlformats.org/drawingml/2006/main">
            <a:r>
              <a:t>`record 0` läuft bis zum manuellen Stoppen. Die Anweisung aktualisiert sich automatisch, sobald der Versuchsleiter einen passenden `mark`- oder `cue`-Befehl auslöst. Die Wartezeiten werden nicht automatisch gesteuert. Die Rechenanweisung bleibt in dieser kurzen Demo während des Rechnens sichtbar. Im Studienprotokoll ist dagegen eine separate Instruktionsphase mit anschließendem Fixationskreuz vorgesehen.</a:t>
            </a:r>
          </a:p>
          <a:p xmlns:a="http://schemas.openxmlformats.org/drawingml/2006/main">
            <a:r>
              <a:t/>
            </a:r>
          </a:p>
          <a:p xmlns:a="http://schemas.openxmlformats.org/drawingml/2006/main">
            <a:r>
              <a:t>## 4. Ergebnis prüfen</a:t>
            </a:r>
          </a:p>
          <a:p xmlns:a="http://schemas.openxmlformats.org/drawingml/2006/main">
            <a:r>
              <a:t/>
            </a:r>
          </a:p>
          <a:p xmlns:a="http://schemas.openxmlformats.org/drawingml/2006/main">
            <a:r>
              <a:t>`Where` nennt den tatsächlichen Aufnahmeordner. CMake legt ihn als `recordings` neben dem Projektordner fest. Beim obigen Beispiel liegen die Dateien unter:</a:t>
            </a:r>
          </a:p>
          <a:p xmlns:a="http://schemas.openxmlformats.org/drawingml/2006/main">
            <a:r>
              <a:t/>
            </a:r>
          </a:p>
          <a:p xmlns:a="http://schemas.openxmlformats.org/drawingml/2006/main">
            <a:r>
              <a:t>```text</a:t>
            </a:r>
          </a:p>
          <a:p xmlns:a="http://schemas.openxmlformats.org/drawingml/2006/main">
            <a:r>
              <a:t>C:\Projekte\recordings\Demo_01\VP01_demo.csv</a:t>
            </a:r>
          </a:p>
          <a:p xmlns:a="http://schemas.openxmlformats.org/drawingml/2006/main">
            <a:r>
              <a:t>C:\Projekte\recordings\Demo_01\VP01_demo.csv.events.csv</a:t>
            </a:r>
          </a:p>
          <a:p xmlns:a="http://schemas.openxmlformats.org/drawingml/2006/main">
            <a:r>
              <a:t>```</a:t>
            </a:r>
          </a:p>
          <a:p xmlns:a="http://schemas.openxmlformats.org/drawingml/2006/main">
            <a:r>
              <a:t/>
            </a:r>
          </a:p>
          <a:p xmlns:a="http://schemas.openxmlformats.org/drawingml/2006/main">
            <a:r>
              <a:t>Die erste Datei enthält die Kanalwerte und Zeitinformationen, die zweite die Aufgabenmarker. Markerpositionen sind zeitliche Näherungen und keine präzise Hardware-Synchronisation.</a:t>
            </a:r>
          </a:p>
          <a:p xmlns:a="http://schemas.openxmlformats.org/drawingml/2006/main">
            <a:r>
              <a:t/>
            </a:r>
          </a:p>
          <a:p xmlns:a="http://schemas.openxmlformats.org/drawingml/2006/main">
            <a:r>
              <a:t>## 5. Optional: Aufnahme in Python ansehen</a:t>
            </a:r>
          </a:p>
          <a:p xmlns:a="http://schemas.openxmlformats.org/drawingml/2006/main">
            <a:r>
              <a:t/>
            </a:r>
          </a:p>
          <a:p xmlns:a="http://schemas.openxmlformats.org/drawingml/2006/main">
            <a:r>
              <a:t>In einer Python-Umgebung mit MNE, NumPy und Matplotlib aus dem Projektordner ausführen. Die EEG-Einheit vorher der Ausgabe von `config` entnehmen. Das folgende Beispiel gilt nur, wenn dort für EEG tatsächlich `uV` steht:</a:t>
            </a:r>
          </a:p>
          <a:p xmlns:a="http://schemas.openxmlformats.org/drawingml/2006/main">
            <a:r>
              <a:t/>
            </a:r>
          </a:p>
          <a:p xmlns:a="http://schemas.openxmlformats.org/drawingml/2006/main">
            <a:r>
              <a:t>```powershell</a:t>
            </a:r>
          </a:p>
          <a:p xmlns:a="http://schemas.openxmlformats.org/drawingml/2006/main">
            <a:r>
              <a:t>python analysis/view_eeg.py "..\recordings\Demo_01\VP01_demo.csv" --unit uV</a:t>
            </a:r>
          </a:p>
          <a:p xmlns:a="http://schemas.openxmlformats.org/drawingml/2006/main">
            <a:r>
              <a:t>```</a:t>
            </a:r>
          </a:p>
          <a:p xmlns:a="http://schemas.openxmlformats.org/drawingml/2006/main">
            <a:r>
              <a:t/>
            </a:r>
          </a:p>
          <a:p xmlns:a="http://schemas.openxmlformats.org/drawingml/2006/main">
            <a:r>
              <a:t>Für eine gefilterte Anzeigekopie oder das Frequenzspektrum:</a:t>
            </a:r>
          </a:p>
          <a:p xmlns:a="http://schemas.openxmlformats.org/drawingml/2006/main">
            <a:r>
              <a:t/>
            </a:r>
          </a:p>
          <a:p xmlns:a="http://schemas.openxmlformats.org/drawingml/2006/main">
            <a:r>
              <a:t>```powershell</a:t>
            </a:r>
          </a:p>
          <a:p xmlns:a="http://schemas.openxmlformats.org/drawingml/2006/main">
            <a:r>
              <a:t>python analysis/view_eeg.py "..\recordings\Demo_01\VP01_demo.csv" --unit uV --filtered</a:t>
            </a:r>
          </a:p>
          <a:p xmlns:a="http://schemas.openxmlformats.org/drawingml/2006/main">
            <a:r>
              <a:t>python analysis/view_eeg.py "..\recordings\Demo_01\VP01_demo.csv" --unit uV --psd</a:t>
            </a:r>
          </a:p>
          <a:p xmlns:a="http://schemas.openxmlformats.org/drawingml/2006/main">
            <a:r>
              <a:t>```</a:t>
            </a:r>
          </a:p>
          <a:p xmlns:a="http://schemas.openxmlformats.org/drawingml/2006/main">
            <a:r>
              <a:t/>
            </a:r>
          </a:p>
          <a:p xmlns:a="http://schemas.openxmlformats.org/drawingml/2006/main">
            <a:r>
              <a:t>Die Anzeige verändert die gespeicherte CSV nicht.</a:t>
            </a:r>
          </a:p>
          <a:p xmlns:a="http://schemas.openxmlformats.org/drawingml/2006/main">
            <a:r>
              <a:t/>
            </a:r>
          </a:p>
          <a:p xmlns:a="http://schemas.openxmlformats.org/drawingml/2006/main">
            <a:r>
              <a:t/>
            </a:r>
          </a:p>
          <a:p xmlns:a="http://schemas.openxmlformats.org/drawingml/2006/main">
            <a:r>
              <a:t>Project sources:</a:t>
            </a:r>
          </a:p>
          <a:p xmlns:a="http://schemas.openxmlformats.org/drawingml/2006/main">
            <a:r>
              <a:t>/Users/theoa/Desktop/Projects/EEGvsMEG/gtec_Clib/terminal/README.md</a:t>
            </a:r>
          </a:p>
          <a:p xmlns:a="http://schemas.openxmlformats.org/drawingml/2006/main">
            <a:r>
              <a:t>/Users/theoa/Desktop/Projects/EEGvsMEG/gtec_Clib/terminal/main.cpp</a:t>
            </a:r>
          </a:p>
          <a:p xmlns:a="http://schemas.openxmlformats.org/drawingml/2006/main">
            <a:r>
              <a:t>/Users/theoa/Desktop/Projects/EEGvsMEG/analysis/view_eeg.py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fca2c9357545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0b206fc27348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c1f3991dcc42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a29d9df45947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344cce8ed240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9baa569d38e4f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E8679-0120-4DAF-B15B-B2D0995809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340EE8-7C77-48F6-8819-9C11B8FF24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F15066-3290-4D26-8863-717F910133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8FB81E-AFA1-4613-BE29-1FC9C86896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A23BD7-60C9-4DCA-ABB1-3902874D66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BC9EC8-43D0-422D-9E9C-497E1A2009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028DF9-046C-4630-9AB0-40336EF555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3F15E1F-57E9-4F41-AF44-255AAA1400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04034B-2F54-4E3E-8718-81C884664A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E9AAEE-3B99-4066-BF49-4407184771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544da296e24151" /><Relationship Type="http://schemas.openxmlformats.org/officeDocument/2006/relationships/slideLayout" Target="/ppt/slideLayouts/slideLayout1.xml" Id="R25211f5a36fb4f8d" /><Relationship Type="http://schemas.openxmlformats.org/officeDocument/2006/relationships/slideLayout" Target="/ppt/slideLayouts/slideLayout2.xml" Id="R149d099a133744f8" /><Relationship Type="http://schemas.openxmlformats.org/officeDocument/2006/relationships/slideLayout" Target="/ppt/slideLayouts/slideLayout3.xml" Id="Re7a2a927eb974631" /><Relationship Type="http://schemas.openxmlformats.org/officeDocument/2006/relationships/slideLayout" Target="/ppt/slideLayouts/slideLayout4.xml" Id="R65c5445f292c4409" /><Relationship Type="http://schemas.openxmlformats.org/officeDocument/2006/relationships/slideLayout" Target="/ppt/slideLayouts/slideLayout5.xml" Id="R86ea560a67de416b" /><Relationship Type="http://schemas.openxmlformats.org/officeDocument/2006/relationships/slideLayout" Target="/ppt/slideLayouts/slideLayout6.xml" Id="Rb4008a63f5834a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211f5a36fb4f8d"/>
    <p:sldLayoutId xmlns:r="http://schemas.openxmlformats.org/officeDocument/2006/relationships" id="2147483650" r:id="R149d099a133744f8"/>
    <p:sldLayoutId xmlns:r="http://schemas.openxmlformats.org/officeDocument/2006/relationships" id="2147483651" r:id="Re7a2a927eb974631"/>
    <p:sldLayoutId xmlns:r="http://schemas.openxmlformats.org/officeDocument/2006/relationships" id="2147483652" r:id="R65c5445f292c4409"/>
    <p:sldLayoutId xmlns:r="http://schemas.openxmlformats.org/officeDocument/2006/relationships" id="2147483653" r:id="R86ea560a67de416b"/>
    <p:sldLayoutId xmlns:r="http://schemas.openxmlformats.org/officeDocument/2006/relationships" id="2147483654" r:id="Rb4008a63f5834a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d2b0ca0d794da9" /><Relationship Type="http://schemas.openxmlformats.org/officeDocument/2006/relationships/notesSlide" Target="/ppt/notesSlides/notesSlide1.xml" Id="R5ecc0ca643d14b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e5725cbedb4db6" /><Relationship Type="http://schemas.openxmlformats.org/officeDocument/2006/relationships/notesSlide" Target="/ppt/notesSlides/notesSlide2.xml" Id="Rbebb53da6d9b47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ab1289c674cee" /><Relationship Type="http://schemas.openxmlformats.org/officeDocument/2006/relationships/notesSlide" Target="/ppt/notesSlides/notesSlide3.xml" Id="Rab15d1fc50c043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1b1dbbd8e14a7e" /><Relationship Type="http://schemas.openxmlformats.org/officeDocument/2006/relationships/notesSlide" Target="/ppt/notesSlides/notesSlide4.xml" Id="R338621fe741249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7fd26b900b411d" /><Relationship Type="http://schemas.openxmlformats.org/officeDocument/2006/relationships/notesSlide" Target="/ppt/notesSlides/notesSlide5.xml" Id="R086772b7b5db4f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62c949be754e4a" /><Relationship Type="http://schemas.openxmlformats.org/officeDocument/2006/relationships/notesSlide" Target="/ppt/notesSlides/notesSlide6.xml" Id="R48240e2dee1347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99e67a21a34e7f" /><Relationship Type="http://schemas.openxmlformats.org/officeDocument/2006/relationships/notesSlide" Target="/ppt/notesSlides/notesSlide7.xml" Id="Rdba9d66691ba48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ad92b10fb9f42eb" /><Relationship Type="http://schemas.openxmlformats.org/officeDocument/2006/relationships/notesSlide" Target="/ppt/notesSlides/notesSlide8.xml" Id="R7b82eabd69c049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217a6200c0434b" /><Relationship Type="http://schemas.openxmlformats.org/officeDocument/2006/relationships/notesSlide" Target="/ppt/notesSlides/notesSlide9.xml" Id="R4e9b3c9d499f434b"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0354B9-35A9-4477-AD72-191E77C1F97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EEG vs MEG</a:t>
            </a:r>
          </a:p>
        </p:txBody>
      </p:sp>
      <p:sp>
        <p:nvSpPr>
          <p:cNvPr id="2" name="">
            <a:extLst xmlns:a="http://schemas.openxmlformats.org/drawingml/2006/main">
              <a:ext uri="{FF2B5EF4-FFF2-40B4-BE49-F238E27FC236}">
                <a16:creationId xmlns:a16="http://schemas.microsoft.com/office/drawing/2014/main" id="{44157902-0616-4FB5-8EAC-E3440D7E4CA5}"/>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01</a:t>
            </a:r>
          </a:p>
        </p:txBody>
      </p:sp>
      <p:sp>
        <p:nvSpPr>
          <p:cNvPr id="3" name="">
            <a:extLst xmlns:a="http://schemas.openxmlformats.org/drawingml/2006/main">
              <a:ext uri="{FF2B5EF4-FFF2-40B4-BE49-F238E27FC236}">
                <a16:creationId xmlns:a16="http://schemas.microsoft.com/office/drawing/2014/main" id="{DDC89B29-C0ED-4F22-B99C-D229B8B997DF}"/>
              </a:ext>
            </a:extLst>
          </p:cNvPr>
          <p:cNvSpPr>
            <a:spLocks xmlns:a="http://schemas.openxmlformats.org/drawingml/2006/main" noGrp="1"/>
          </p:cNvSpPr>
          <p:nvPr/>
        </p:nvSpPr>
        <p:spPr>
          <a:xfrm xmlns:a="http://schemas.openxmlformats.org/drawingml/2006/main">
            <a:off x="704850" y="2133600"/>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3B"/>
                </a:solidFill>
              </a:defRPr>
            </a:defPPr>
          </a:lstStyle>
          <a:p xmlns:a="http://schemas.openxmlformats.org/drawingml/2006/main">
            <a:pPr>
              <a:defRPr sz="4050" b="1">
                <a:solidFill>
                  <a:srgbClr val="142B3B"/>
                </a:solidFill>
              </a:defRPr>
            </a:pPr>
            <a:r>
              <a:rPr sz="4050" b="1">
                <a:solidFill>
                  <a:srgbClr val="142B3B"/>
                </a:solidFill>
              </a:rPr>
              <a:t>Implementierung und Versuchsablauf</a:t>
            </a:r>
          </a:p>
        </p:txBody>
      </p:sp>
      <p:sp>
        <p:nvSpPr>
          <p:cNvPr id="4" name="">
            <a:extLst xmlns:a="http://schemas.openxmlformats.org/drawingml/2006/main">
              <a:ext uri="{FF2B5EF4-FFF2-40B4-BE49-F238E27FC236}">
                <a16:creationId xmlns:a16="http://schemas.microsoft.com/office/drawing/2014/main" id="{C5E62F41-8B14-407B-B14E-8808BADD9F6D}"/>
              </a:ext>
            </a:extLst>
          </p:cNvPr>
          <p:cNvSpPr>
            <a:spLocks xmlns:a="http://schemas.openxmlformats.org/drawingml/2006/main" noGrp="1"/>
          </p:cNvSpPr>
          <p:nvPr/>
        </p:nvSpPr>
        <p:spPr>
          <a:xfrm xmlns:a="http://schemas.openxmlformats.org/drawingml/2006/main">
            <a:off x="723900" y="37909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435563"/>
                </a:solidFill>
              </a:defRPr>
            </a:defPPr>
          </a:lstStyle>
          <a:p xmlns:a="http://schemas.openxmlformats.org/drawingml/2006/main">
            <a:pPr>
              <a:defRPr sz="2325" b="0">
                <a:solidFill>
                  <a:srgbClr val="435563"/>
                </a:solidFill>
              </a:defRPr>
            </a:pPr>
            <a:r>
              <a:rPr sz="2325" b="0">
                <a:solidFill>
                  <a:srgbClr val="435563"/>
                </a:solidFill>
              </a:rPr>
              <a:t>C-API-CLI, Teilnehmeranzeige und geplante Auswertung</a:t>
            </a:r>
          </a:p>
        </p:txBody>
      </p:sp>
      <p:sp>
        <p:nvSpPr>
          <p:cNvPr id="5" name="">
            <a:extLst xmlns:a="http://schemas.openxmlformats.org/drawingml/2006/main">
              <a:ext uri="{FF2B5EF4-FFF2-40B4-BE49-F238E27FC236}">
                <a16:creationId xmlns:a16="http://schemas.microsoft.com/office/drawing/2014/main" id="{909DCCC7-11ED-40C0-B892-D013501F6A6C}"/>
              </a:ext>
            </a:extLst>
          </p:cNvPr>
          <p:cNvSpPr>
            <a:spLocks xmlns:a="http://schemas.openxmlformats.org/drawingml/2006/main" noGrp="1"/>
          </p:cNvSpPr>
          <p:nvPr/>
        </p:nvSpPr>
        <p:spPr>
          <a:xfrm xmlns:a="http://schemas.openxmlformats.org/drawingml/2006/main">
            <a:off x="723900" y="52197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Theodoros Avgitidis</a:t>
            </a:r>
          </a:p>
          <a:p xmlns:a="http://schemas.openxmlformats.org/drawingml/2006/main">
            <a:pPr>
              <a:defRPr sz="1875" b="0">
                <a:solidFill>
                  <a:srgbClr val="087F83"/>
                </a:solidFill>
              </a:defRPr>
            </a:pPr>
            <a:r>
              <a:rPr sz="1875" b="0">
                <a:solidFill>
                  <a:srgbClr val="087F83"/>
                </a:solidFill>
              </a:rPr>
              <a:t>15. Oktober 2026</a:t>
            </a:r>
          </a:p>
        </p:txBody>
      </p:sp>
    </p:spTree>
    <p:extLst>
      <p:ext uri="{BB962C8B-B14F-4D97-AF65-F5344CB8AC3E}">
        <p14:creationId xmlns:p14="http://schemas.microsoft.com/office/powerpoint/2010/main" val="1358303658"/>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3378FA3-12C3-47CB-9801-F5133EC453B2}"/>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g.tec Unicorn Suite: Workflow und Daten</a:t>
            </a:r>
          </a:p>
        </p:txBody>
      </p:sp>
      <p:sp>
        <p:nvSpPr>
          <p:cNvPr id="2" name="">
            <a:extLst xmlns:a="http://schemas.openxmlformats.org/drawingml/2006/main">
              <a:ext uri="{FF2B5EF4-FFF2-40B4-BE49-F238E27FC236}">
                <a16:creationId xmlns:a16="http://schemas.microsoft.com/office/drawing/2014/main" id="{832401C7-4D78-48C3-8E40-6A063B825AE7}"/>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02</a:t>
            </a:r>
          </a:p>
        </p:txBody>
      </p:sp>
      <p:sp>
        <p:nvSpPr>
          <p:cNvPr id="3" name="">
            <a:extLst xmlns:a="http://schemas.openxmlformats.org/drawingml/2006/main">
              <a:ext uri="{FF2B5EF4-FFF2-40B4-BE49-F238E27FC236}">
                <a16:creationId xmlns:a16="http://schemas.microsoft.com/office/drawing/2014/main" id="{788B11AC-CDDD-4D7F-BD7E-1FA10FD70FF7}"/>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Workflow</a:t>
            </a:r>
          </a:p>
        </p:txBody>
      </p:sp>
      <p:sp>
        <p:nvSpPr>
          <p:cNvPr id="4" name="">
            <a:extLst xmlns:a="http://schemas.openxmlformats.org/drawingml/2006/main">
              <a:ext uri="{FF2B5EF4-FFF2-40B4-BE49-F238E27FC236}">
                <a16:creationId xmlns:a16="http://schemas.microsoft.com/office/drawing/2014/main" id="{A469AE76-58A5-4A40-B499-D0422E95547B}"/>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in „My Unicorn“ koppeln, Recorder starten, Signale prüfen und Aufnahme speichern.</a:t>
            </a:r>
          </a:p>
        </p:txBody>
      </p:sp>
      <p:sp>
        <p:nvSpPr>
          <p:cNvPr id="5" name="">
            <a:extLst xmlns:a="http://schemas.openxmlformats.org/drawingml/2006/main">
              <a:ext uri="{FF2B5EF4-FFF2-40B4-BE49-F238E27FC236}">
                <a16:creationId xmlns:a16="http://schemas.microsoft.com/office/drawing/2014/main" id="{DC389620-FD79-4AA6-AA22-18034C6C3B7B}"/>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Einzelne Kanäle</a:t>
            </a:r>
          </a:p>
        </p:txBody>
      </p:sp>
      <p:sp>
        <p:nvSpPr>
          <p:cNvPr id="6" name="">
            <a:extLst xmlns:a="http://schemas.openxmlformats.org/drawingml/2006/main">
              <a:ext uri="{FF2B5EF4-FFF2-40B4-BE49-F238E27FC236}">
                <a16:creationId xmlns:a16="http://schemas.microsoft.com/office/drawing/2014/main" id="{A6AD0AF9-FD25-43FC-BD56-4EFC03C8847F}"/>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 Recorder zeigt die EEG-Zeitverläufe der acht Elektrodenpositionen und zeichnet die Signale auf.</a:t>
            </a:r>
          </a:p>
        </p:txBody>
      </p:sp>
      <p:sp>
        <p:nvSpPr>
          <p:cNvPr id="7" name="">
            <a:extLst xmlns:a="http://schemas.openxmlformats.org/drawingml/2006/main">
              <a:ext uri="{FF2B5EF4-FFF2-40B4-BE49-F238E27FC236}">
                <a16:creationId xmlns:a16="http://schemas.microsoft.com/office/drawing/2014/main" id="{4634C0D8-0E9D-42A2-857A-2191D5A71D1C}"/>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Frequenzbänder</a:t>
            </a:r>
          </a:p>
        </p:txBody>
      </p:sp>
      <p:sp>
        <p:nvSpPr>
          <p:cNvPr id="8" name="">
            <a:extLst xmlns:a="http://schemas.openxmlformats.org/drawingml/2006/main">
              <a:ext uri="{FF2B5EF4-FFF2-40B4-BE49-F238E27FC236}">
                <a16:creationId xmlns:a16="http://schemas.microsoft.com/office/drawing/2014/main" id="{BB0D4AD6-2D8B-4A21-9711-EDE38A79399A}"/>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 Bandpower berechnet laufend die Leistung je Kanal und Frequenzband, z. B. Theta oder Beta.</a:t>
            </a:r>
          </a:p>
        </p:txBody>
      </p:sp>
      <p:sp>
        <p:nvSpPr>
          <p:cNvPr id="9" name="">
            <a:extLst xmlns:a="http://schemas.openxmlformats.org/drawingml/2006/main">
              <a:ext uri="{FF2B5EF4-FFF2-40B4-BE49-F238E27FC236}">
                <a16:creationId xmlns:a16="http://schemas.microsoft.com/office/drawing/2014/main" id="{A49B15E7-B7D9-47B6-8FB7-7AAAE4A952F6}"/>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Einfacher PoC</a:t>
            </a:r>
          </a:p>
        </p:txBody>
      </p:sp>
      <p:sp>
        <p:nvSpPr>
          <p:cNvPr id="10" name="">
            <a:extLst xmlns:a="http://schemas.openxmlformats.org/drawingml/2006/main">
              <a:ext uri="{FF2B5EF4-FFF2-40B4-BE49-F238E27FC236}">
                <a16:creationId xmlns:a16="http://schemas.microsoft.com/office/drawing/2014/main" id="{B92D4EB4-F7FC-4DCC-AE52-19959D34C434}"/>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Bandpower kann ein einfaches Feedback steuern, z. B. bei konzentriertem Kopfrechnen. Pro Person prüfen.</a:t>
            </a:r>
          </a:p>
        </p:txBody>
      </p:sp>
    </p:spTree>
    <p:extLst>
      <p:ext uri="{BB962C8B-B14F-4D97-AF65-F5344CB8AC3E}">
        <p14:creationId xmlns:p14="http://schemas.microsoft.com/office/powerpoint/2010/main" val="367046953"/>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7B866B-63FB-4EDB-BCBB-9D27CBEE7FC1}"/>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Implementiert: C-API-CLI</a:t>
            </a:r>
          </a:p>
        </p:txBody>
      </p:sp>
      <p:sp>
        <p:nvSpPr>
          <p:cNvPr id="2" name="">
            <a:extLst xmlns:a="http://schemas.openxmlformats.org/drawingml/2006/main">
              <a:ext uri="{FF2B5EF4-FFF2-40B4-BE49-F238E27FC236}">
                <a16:creationId xmlns:a16="http://schemas.microsoft.com/office/drawing/2014/main" id="{BA63589E-AECD-4EBE-BE9A-CC73EB37FC64}"/>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03</a:t>
            </a:r>
          </a:p>
        </p:txBody>
      </p:sp>
      <p:sp>
        <p:nvSpPr>
          <p:cNvPr id="3" name="">
            <a:extLst xmlns:a="http://schemas.openxmlformats.org/drawingml/2006/main">
              <a:ext uri="{FF2B5EF4-FFF2-40B4-BE49-F238E27FC236}">
                <a16:creationId xmlns:a16="http://schemas.microsoft.com/office/drawing/2014/main" id="{6821AA95-E75C-49D7-BE93-28F0D0A0F978}"/>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Gerätezugriff</a:t>
            </a:r>
          </a:p>
        </p:txBody>
      </p:sp>
      <p:sp>
        <p:nvSpPr>
          <p:cNvPr id="4" name="">
            <a:extLst xmlns:a="http://schemas.openxmlformats.org/drawingml/2006/main">
              <a:ext uri="{FF2B5EF4-FFF2-40B4-BE49-F238E27FC236}">
                <a16:creationId xmlns:a16="http://schemas.microsoft.com/office/drawing/2014/main" id="{B21532C3-66D0-411E-B2D6-72CFC01BFF8C}"/>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Unicorn-Headset über die Hersteller-C-API verbinden und konfigurieren.</a:t>
            </a:r>
          </a:p>
        </p:txBody>
      </p:sp>
      <p:sp>
        <p:nvSpPr>
          <p:cNvPr id="5" name="">
            <a:extLst xmlns:a="http://schemas.openxmlformats.org/drawingml/2006/main">
              <a:ext uri="{FF2B5EF4-FFF2-40B4-BE49-F238E27FC236}">
                <a16:creationId xmlns:a16="http://schemas.microsoft.com/office/drawing/2014/main" id="{3B01E9BE-B1B1-49B2-90BE-364F90768273}"/>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Aufzeichnung</a:t>
            </a:r>
          </a:p>
        </p:txBody>
      </p:sp>
      <p:sp>
        <p:nvSpPr>
          <p:cNvPr id="6" name="">
            <a:extLst xmlns:a="http://schemas.openxmlformats.org/drawingml/2006/main">
              <a:ext uri="{FF2B5EF4-FFF2-40B4-BE49-F238E27FC236}">
                <a16:creationId xmlns:a16="http://schemas.microsoft.com/office/drawing/2014/main" id="{C7DA63D4-02EC-4120-A2DC-0D7497DA1CA8}"/>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250 Hz, kurze Testaufnahmen oder kontinuierliche Aufnahme mit optionalem Zeitlimit.</a:t>
            </a:r>
          </a:p>
        </p:txBody>
      </p:sp>
      <p:sp>
        <p:nvSpPr>
          <p:cNvPr id="7" name="">
            <a:extLst xmlns:a="http://schemas.openxmlformats.org/drawingml/2006/main">
              <a:ext uri="{FF2B5EF4-FFF2-40B4-BE49-F238E27FC236}">
                <a16:creationId xmlns:a16="http://schemas.microsoft.com/office/drawing/2014/main" id="{C22F5829-AA4B-42E0-980D-F5060A55646E}"/>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Datenverwaltung</a:t>
            </a:r>
          </a:p>
        </p:txBody>
      </p:sp>
      <p:sp>
        <p:nvSpPr>
          <p:cNvPr id="8" name="">
            <a:extLst xmlns:a="http://schemas.openxmlformats.org/drawingml/2006/main">
              <a:ext uri="{FF2B5EF4-FFF2-40B4-BE49-F238E27FC236}">
                <a16:creationId xmlns:a16="http://schemas.microsoft.com/office/drawing/2014/main" id="{D38D27B5-2E91-422E-BF7E-87FC7DF20429}"/>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Versuchsordner, EEG-CSV und separate Ereignisdatei. Schutz vor Überschreiben.</a:t>
            </a:r>
          </a:p>
        </p:txBody>
      </p:sp>
      <p:sp>
        <p:nvSpPr>
          <p:cNvPr id="9" name="">
            <a:extLst xmlns:a="http://schemas.openxmlformats.org/drawingml/2006/main">
              <a:ext uri="{FF2B5EF4-FFF2-40B4-BE49-F238E27FC236}">
                <a16:creationId xmlns:a16="http://schemas.microsoft.com/office/drawing/2014/main" id="{F06C9F64-2BAE-4FE4-B739-8B101AA7C54D}"/>
              </a:ext>
            </a:extLst>
          </p:cNvPr>
          <p:cNvSpPr>
            <a:spLocks xmlns:a="http://schemas.openxmlformats.org/drawingml/2006/main" noGrp="1"/>
          </p:cNvSpPr>
          <p:nvPr/>
        </p:nvSpPr>
        <p:spPr>
          <a:xfrm xmlns:a="http://schemas.openxmlformats.org/drawingml/2006/main">
            <a:off x="723900" y="49625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NewExp "Pilot_01"</a:t>
            </a:r>
          </a:p>
          <a:p xmlns:a="http://schemas.openxmlformats.org/drawingml/2006/main">
            <a:pPr>
              <a:defRPr sz="1875" b="0">
                <a:solidFill>
                  <a:srgbClr val="087F83"/>
                </a:solidFill>
              </a:defRPr>
            </a:pPr>
            <a:r>
              <a:rPr sz="1875" b="0">
                <a:solidFill>
                  <a:srgbClr val="087F83"/>
                </a:solidFill>
              </a:rPr>
              <a:t>scan paired   /   open &lt;Seriennummer&gt;</a:t>
            </a:r>
          </a:p>
          <a:p xmlns:a="http://schemas.openxmlformats.org/drawingml/2006/main">
            <a:pPr>
              <a:defRPr sz="1875" b="0">
                <a:solidFill>
                  <a:srgbClr val="087F83"/>
                </a:solidFill>
              </a:defRPr>
            </a:pPr>
            <a:r>
              <a:rPr sz="1875" b="0">
                <a:solidFill>
                  <a:srgbClr val="087F83"/>
                </a:solidFill>
              </a:rPr>
              <a:t>config   /   record 0 "VP01.csv" real   /   status   /   stop</a:t>
            </a:r>
          </a:p>
        </p:txBody>
      </p:sp>
    </p:spTree>
    <p:extLst>
      <p:ext uri="{BB962C8B-B14F-4D97-AF65-F5344CB8AC3E}">
        <p14:creationId xmlns:p14="http://schemas.microsoft.com/office/powerpoint/2010/main" val="163638937"/>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8403F5-0876-4E6D-88DD-8D1C2726A709}"/>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Teilnehmeranzeige beim Szenariowechsel</a:t>
            </a:r>
          </a:p>
        </p:txBody>
      </p:sp>
      <p:sp>
        <p:nvSpPr>
          <p:cNvPr id="2" name="">
            <a:extLst xmlns:a="http://schemas.openxmlformats.org/drawingml/2006/main">
              <a:ext uri="{FF2B5EF4-FFF2-40B4-BE49-F238E27FC236}">
                <a16:creationId xmlns:a16="http://schemas.microsoft.com/office/drawing/2014/main" id="{48063A29-6A1A-4191-9C65-EA64D3F5ACA8}"/>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04</a:t>
            </a:r>
          </a:p>
        </p:txBody>
      </p:sp>
      <p:sp>
        <p:nvSpPr>
          <p:cNvPr id="3" name="">
            <a:extLst xmlns:a="http://schemas.openxmlformats.org/drawingml/2006/main">
              <a:ext uri="{FF2B5EF4-FFF2-40B4-BE49-F238E27FC236}">
                <a16:creationId xmlns:a16="http://schemas.microsoft.com/office/drawing/2014/main" id="{6C1D3ABF-5BBB-4181-8CED-124EAC4AAD1F}"/>
              </a:ext>
            </a:extLst>
          </p:cNvPr>
          <p:cNvSpPr>
            <a:spLocks xmlns:a="http://schemas.openxmlformats.org/drawingml/2006/main" noGrp="1"/>
          </p:cNvSpPr>
          <p:nvPr/>
        </p:nvSpPr>
        <p:spPr>
          <a:xfrm xmlns:a="http://schemas.openxmlformats.org/drawingml/2006/main">
            <a:off x="704850" y="16859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Automatische Anzeige</a:t>
            </a:r>
          </a:p>
        </p:txBody>
      </p:sp>
      <p:sp>
        <p:nvSpPr>
          <p:cNvPr id="4" name="">
            <a:extLst xmlns:a="http://schemas.openxmlformats.org/drawingml/2006/main">
              <a:ext uri="{FF2B5EF4-FFF2-40B4-BE49-F238E27FC236}">
                <a16:creationId xmlns:a16="http://schemas.microsoft.com/office/drawing/2014/main" id="{4D420306-A064-4107-AC6B-10C6D77F658B}"/>
              </a:ext>
            </a:extLst>
          </p:cNvPr>
          <p:cNvSpPr>
            <a:spLocks xmlns:a="http://schemas.openxmlformats.org/drawingml/2006/main" noGrp="1"/>
          </p:cNvSpPr>
          <p:nvPr/>
        </p:nvSpPr>
        <p:spPr>
          <a:xfrm xmlns:a="http://schemas.openxmlformats.org/drawingml/2006/main">
            <a:off x="3981450" y="16859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Ein Szenariobefehl aktualisiert die Anweisung im separaten Teilnehmerfenster.</a:t>
            </a:r>
          </a:p>
        </p:txBody>
      </p:sp>
      <p:sp>
        <p:nvSpPr>
          <p:cNvPr id="5" name="">
            <a:extLst xmlns:a="http://schemas.openxmlformats.org/drawingml/2006/main">
              <a:ext uri="{FF2B5EF4-FFF2-40B4-BE49-F238E27FC236}">
                <a16:creationId xmlns:a16="http://schemas.microsoft.com/office/drawing/2014/main" id="{0E67F0EB-BB6B-4D43-8E98-E022764D7450}"/>
              </a:ext>
            </a:extLst>
          </p:cNvPr>
          <p:cNvSpPr>
            <a:spLocks xmlns:a="http://schemas.openxmlformats.org/drawingml/2006/main" noGrp="1"/>
          </p:cNvSpPr>
          <p:nvPr/>
        </p:nvSpPr>
        <p:spPr>
          <a:xfrm xmlns:a="http://schemas.openxmlformats.org/drawingml/2006/main">
            <a:off x="704850" y="26860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Passender Marker</a:t>
            </a:r>
          </a:p>
        </p:txBody>
      </p:sp>
      <p:sp>
        <p:nvSpPr>
          <p:cNvPr id="6" name="">
            <a:extLst xmlns:a="http://schemas.openxmlformats.org/drawingml/2006/main">
              <a:ext uri="{FF2B5EF4-FFF2-40B4-BE49-F238E27FC236}">
                <a16:creationId xmlns:a16="http://schemas.microsoft.com/office/drawing/2014/main" id="{3106E847-241A-4F8F-94F3-18F4EE89D1D1}"/>
              </a:ext>
            </a:extLst>
          </p:cNvPr>
          <p:cNvSpPr>
            <a:spLocks xmlns:a="http://schemas.openxmlformats.org/drawingml/2006/main" noGrp="1"/>
          </p:cNvSpPr>
          <p:nvPr/>
        </p:nvSpPr>
        <p:spPr>
          <a:xfrm xmlns:a="http://schemas.openxmlformats.org/drawingml/2006/main">
            <a:off x="3981450" y="26860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Derselbe Befehl protokolliert die Aufgabenbezeichnung während der Aufnahme.</a:t>
            </a:r>
          </a:p>
        </p:txBody>
      </p:sp>
      <p:sp>
        <p:nvSpPr>
          <p:cNvPr id="7" name="">
            <a:extLst xmlns:a="http://schemas.openxmlformats.org/drawingml/2006/main">
              <a:ext uri="{FF2B5EF4-FFF2-40B4-BE49-F238E27FC236}">
                <a16:creationId xmlns:a16="http://schemas.microsoft.com/office/drawing/2014/main" id="{EF36C59B-EC46-4B47-ABD9-5DB427E8ABF2}"/>
              </a:ext>
            </a:extLst>
          </p:cNvPr>
          <p:cNvSpPr>
            <a:spLocks xmlns:a="http://schemas.openxmlformats.org/drawingml/2006/main" noGrp="1"/>
          </p:cNvSpPr>
          <p:nvPr/>
        </p:nvSpPr>
        <p:spPr>
          <a:xfrm xmlns:a="http://schemas.openxmlformats.org/drawingml/2006/main">
            <a:off x="704850" y="3686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Flexible Aufgaben</a:t>
            </a:r>
          </a:p>
        </p:txBody>
      </p:sp>
      <p:sp>
        <p:nvSpPr>
          <p:cNvPr id="8" name="">
            <a:extLst xmlns:a="http://schemas.openxmlformats.org/drawingml/2006/main">
              <a:ext uri="{FF2B5EF4-FFF2-40B4-BE49-F238E27FC236}">
                <a16:creationId xmlns:a16="http://schemas.microsoft.com/office/drawing/2014/main" id="{FF1F295E-4949-491E-A9B2-B6AF3C3A1199}"/>
              </a:ext>
            </a:extLst>
          </p:cNvPr>
          <p:cNvSpPr>
            <a:spLocks xmlns:a="http://schemas.openxmlformats.org/drawingml/2006/main" noGrp="1"/>
          </p:cNvSpPr>
          <p:nvPr/>
        </p:nvSpPr>
        <p:spPr>
          <a:xfrm xmlns:a="http://schemas.openxmlformats.org/drawingml/2006/main">
            <a:off x="3981450" y="3686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Bewegung, Kopfrechnen, Fixationskreuz und eigene Anweisungen. Vollbild mit F11.</a:t>
            </a:r>
          </a:p>
        </p:txBody>
      </p:sp>
      <p:sp>
        <p:nvSpPr>
          <p:cNvPr id="9" name="">
            <a:extLst xmlns:a="http://schemas.openxmlformats.org/drawingml/2006/main">
              <a:ext uri="{FF2B5EF4-FFF2-40B4-BE49-F238E27FC236}">
                <a16:creationId xmlns:a16="http://schemas.microsoft.com/office/drawing/2014/main" id="{BDC6F7BE-259B-43D7-9CB6-6BCD931836F3}"/>
              </a:ext>
            </a:extLst>
          </p:cNvPr>
          <p:cNvSpPr>
            <a:spLocks xmlns:a="http://schemas.openxmlformats.org/drawingml/2006/main" noGrp="1"/>
          </p:cNvSpPr>
          <p:nvPr/>
        </p:nvSpPr>
        <p:spPr>
          <a:xfrm xmlns:a="http://schemas.openxmlformats.org/drawingml/2006/main">
            <a:off x="723900" y="4762500"/>
            <a:ext cx="1076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087F83"/>
                </a:solidFill>
              </a:defRPr>
            </a:defPPr>
          </a:lstStyle>
          <a:p xmlns:a="http://schemas.openxmlformats.org/drawingml/2006/main">
            <a:pPr>
              <a:defRPr sz="1800" b="0">
                <a:solidFill>
                  <a:srgbClr val="087F83"/>
                </a:solidFill>
              </a:defRPr>
            </a:pPr>
            <a:r>
              <a:rPr sz="1800" b="0">
                <a:solidFill>
                  <a:srgbClr val="087F83"/>
                </a:solidFill>
              </a:rPr>
              <a:t>cue open</a:t>
            </a:r>
          </a:p>
          <a:p xmlns:a="http://schemas.openxmlformats.org/drawingml/2006/main">
            <a:pPr>
              <a:defRPr sz="1800" b="0">
                <a:solidFill>
                  <a:srgbClr val="087F83"/>
                </a:solidFill>
              </a:defRPr>
            </a:pPr>
            <a:r>
              <a:rPr sz="1800" b="0">
                <a:solidFill>
                  <a:srgbClr val="087F83"/>
                </a:solidFill>
              </a:rPr>
              <a:t>mark hands_up   /   mark legs_up   /   mark rest</a:t>
            </a:r>
          </a:p>
          <a:p xmlns:a="http://schemas.openxmlformats.org/drawingml/2006/main">
            <a:pPr>
              <a:defRPr sz="1800" b="0">
                <a:solidFill>
                  <a:srgbClr val="087F83"/>
                </a:solidFill>
              </a:defRPr>
            </a:pPr>
            <a:r>
              <a:rPr sz="1800" b="0">
                <a:solidFill>
                  <a:srgbClr val="087F83"/>
                </a:solidFill>
              </a:rPr>
              <a:t>mark subtract 7 from 347</a:t>
            </a:r>
          </a:p>
          <a:p xmlns:a="http://schemas.openxmlformats.org/drawingml/2006/main">
            <a:pPr>
              <a:defRPr sz="1800" b="0">
                <a:solidFill>
                  <a:srgbClr val="087F83"/>
                </a:solidFill>
              </a:defRPr>
            </a:pPr>
            <a:r>
              <a:rPr sz="1800" b="0">
                <a:solidFill>
                  <a:srgbClr val="087F83"/>
                </a:solidFill>
              </a:rPr>
              <a:t>cue imagery_arms | Stelle dir vor, beide Unterarme anzuheben.</a:t>
            </a:r>
          </a:p>
        </p:txBody>
      </p:sp>
    </p:spTree>
    <p:extLst>
      <p:ext uri="{BB962C8B-B14F-4D97-AF65-F5344CB8AC3E}">
        <p14:creationId xmlns:p14="http://schemas.microsoft.com/office/powerpoint/2010/main" val="465645839"/>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8DC72A-0F29-43A2-83F4-EF2F2C64616B}"/>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Geplante Szenarien im ersten Pilotversuch</a:t>
            </a:r>
          </a:p>
        </p:txBody>
      </p:sp>
      <p:sp>
        <p:nvSpPr>
          <p:cNvPr id="2" name="">
            <a:extLst xmlns:a="http://schemas.openxmlformats.org/drawingml/2006/main">
              <a:ext uri="{FF2B5EF4-FFF2-40B4-BE49-F238E27FC236}">
                <a16:creationId xmlns:a16="http://schemas.microsoft.com/office/drawing/2014/main" id="{8BD1FCDB-F525-441A-A1E3-F95F0DDA6180}"/>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05</a:t>
            </a:r>
          </a:p>
        </p:txBody>
      </p:sp>
      <p:sp>
        <p:nvSpPr>
          <p:cNvPr id="3" name="">
            <a:extLst xmlns:a="http://schemas.openxmlformats.org/drawingml/2006/main">
              <a:ext uri="{FF2B5EF4-FFF2-40B4-BE49-F238E27FC236}">
                <a16:creationId xmlns:a16="http://schemas.microsoft.com/office/drawing/2014/main" id="{1E4C1B13-C551-4098-8D90-D5314472FB4D}"/>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a:t>
            </a:r>
          </a:p>
        </p:txBody>
      </p:sp>
      <p:sp>
        <p:nvSpPr>
          <p:cNvPr id="4" name="">
            <a:extLst xmlns:a="http://schemas.openxmlformats.org/drawingml/2006/main">
              <a:ext uri="{FF2B5EF4-FFF2-40B4-BE49-F238E27FC236}">
                <a16:creationId xmlns:a16="http://schemas.microsoft.com/office/drawing/2014/main" id="{92E24FDA-8B49-49D5-B750-720B131054FB}"/>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Beide Unterarme anheben, beide Füße anheben oder zweimal bewusst blinzeln. Je 20 Trials.</a:t>
            </a:r>
          </a:p>
        </p:txBody>
      </p:sp>
      <p:sp>
        <p:nvSpPr>
          <p:cNvPr id="5" name="">
            <a:extLst xmlns:a="http://schemas.openxmlformats.org/drawingml/2006/main">
              <a:ext uri="{FF2B5EF4-FFF2-40B4-BE49-F238E27FC236}">
                <a16:creationId xmlns:a16="http://schemas.microsoft.com/office/drawing/2014/main" id="{CCB16302-3751-4416-B557-449B64895D83}"/>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 Imagery</a:t>
            </a:r>
          </a:p>
        </p:txBody>
      </p:sp>
      <p:sp>
        <p:nvSpPr>
          <p:cNvPr id="6" name="">
            <a:extLst xmlns:a="http://schemas.openxmlformats.org/drawingml/2006/main">
              <a:ext uri="{FF2B5EF4-FFF2-40B4-BE49-F238E27FC236}">
                <a16:creationId xmlns:a16="http://schemas.microsoft.com/office/drawing/2014/main" id="{FFF642A4-D386-4939-905A-CCA9BF9F0C72}"/>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Dieselben Arm- und Beinbewegungen aus der eigenen Körperperspektive vorstellen. Je 20 Trials.</a:t>
            </a:r>
          </a:p>
        </p:txBody>
      </p:sp>
      <p:sp>
        <p:nvSpPr>
          <p:cNvPr id="7" name="">
            <a:extLst xmlns:a="http://schemas.openxmlformats.org/drawingml/2006/main">
              <a:ext uri="{FF2B5EF4-FFF2-40B4-BE49-F238E27FC236}">
                <a16:creationId xmlns:a16="http://schemas.microsoft.com/office/drawing/2014/main" id="{D4F90610-0C44-455C-A743-F2D2F62A73AE}"/>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8" name="">
            <a:extLst xmlns:a="http://schemas.openxmlformats.org/drawingml/2006/main">
              <a:ext uri="{FF2B5EF4-FFF2-40B4-BE49-F238E27FC236}">
                <a16:creationId xmlns:a16="http://schemas.microsoft.com/office/drawing/2014/main" id="{B1D9715B-368D-45AD-8336-BFC6B75F32C9}"/>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Von einer dreistelligen Zahl wiederholt 7 abziehen, still und ohne Fingerbewegung. 12 Trials.</a:t>
            </a:r>
          </a:p>
        </p:txBody>
      </p:sp>
      <p:sp>
        <p:nvSpPr>
          <p:cNvPr id="9" name="">
            <a:extLst xmlns:a="http://schemas.openxmlformats.org/drawingml/2006/main">
              <a:ext uri="{FF2B5EF4-FFF2-40B4-BE49-F238E27FC236}">
                <a16:creationId xmlns:a16="http://schemas.microsoft.com/office/drawing/2014/main" id="{7E134384-0E51-40C7-906C-6195B9E67D6C}"/>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Ruhephasen</a:t>
            </a:r>
          </a:p>
        </p:txBody>
      </p:sp>
      <p:sp>
        <p:nvSpPr>
          <p:cNvPr id="10" name="">
            <a:extLst xmlns:a="http://schemas.openxmlformats.org/drawingml/2006/main">
              <a:ext uri="{FF2B5EF4-FFF2-40B4-BE49-F238E27FC236}">
                <a16:creationId xmlns:a16="http://schemas.microsoft.com/office/drawing/2014/main" id="{F8DEEEA8-0A29-4F6A-848F-9A04D851D66B}"/>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Je 60 Sekunden Baseline vor und nach den Aufgaben. Erholung zwischen den Trials.</a:t>
            </a:r>
          </a:p>
        </p:txBody>
      </p:sp>
    </p:spTree>
    <p:extLst>
      <p:ext uri="{BB962C8B-B14F-4D97-AF65-F5344CB8AC3E}">
        <p14:creationId xmlns:p14="http://schemas.microsoft.com/office/powerpoint/2010/main" val="1483921556"/>
      </p:ext>
    </p:extLst>
  </p:cSld>
</p:sld>
</file>

<file path=ppt/slides/slide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5E1C30-479A-4239-B3F4-A48B8E8BD0F3}"/>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Trial-Struktur und Sitzungsdauer</a:t>
            </a:r>
          </a:p>
        </p:txBody>
      </p:sp>
      <p:sp>
        <p:nvSpPr>
          <p:cNvPr id="2" name="">
            <a:extLst xmlns:a="http://schemas.openxmlformats.org/drawingml/2006/main">
              <a:ext uri="{FF2B5EF4-FFF2-40B4-BE49-F238E27FC236}">
                <a16:creationId xmlns:a16="http://schemas.microsoft.com/office/drawing/2014/main" id="{7F79FE2F-169F-416E-AE59-12984745CE29}"/>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06</a:t>
            </a:r>
          </a:p>
        </p:txBody>
      </p:sp>
      <p:sp>
        <p:nvSpPr>
          <p:cNvPr id="3" name="">
            <a:extLst xmlns:a="http://schemas.openxmlformats.org/drawingml/2006/main">
              <a:ext uri="{FF2B5EF4-FFF2-40B4-BE49-F238E27FC236}">
                <a16:creationId xmlns:a16="http://schemas.microsoft.com/office/drawing/2014/main" id="{0698019A-8FA9-417E-8B27-E20987EE8C35}"/>
              </a:ext>
            </a:extLst>
          </p:cNvPr>
          <p:cNvSpPr>
            <a:spLocks xmlns:a="http://schemas.openxmlformats.org/drawingml/2006/main" noGrp="1"/>
          </p:cNvSpPr>
          <p:nvPr/>
        </p:nvSpPr>
        <p:spPr>
          <a:xfrm xmlns:a="http://schemas.openxmlformats.org/drawingml/2006/main">
            <a:off x="704850" y="17145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Motorik und Imagery</a:t>
            </a:r>
          </a:p>
        </p:txBody>
      </p:sp>
      <p:sp>
        <p:nvSpPr>
          <p:cNvPr id="4" name="">
            <a:extLst xmlns:a="http://schemas.openxmlformats.org/drawingml/2006/main">
              <a:ext uri="{FF2B5EF4-FFF2-40B4-BE49-F238E27FC236}">
                <a16:creationId xmlns:a16="http://schemas.microsoft.com/office/drawing/2014/main" id="{FE3878B9-B04C-4CCA-B4BC-2A5F682D6C4D}"/>
              </a:ext>
            </a:extLst>
          </p:cNvPr>
          <p:cNvSpPr>
            <a:spLocks xmlns:a="http://schemas.openxmlformats.org/drawingml/2006/main" noGrp="1"/>
          </p:cNvSpPr>
          <p:nvPr/>
        </p:nvSpPr>
        <p:spPr>
          <a:xfrm xmlns:a="http://schemas.openxmlformats.org/drawingml/2006/main">
            <a:off x="3981450" y="17145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Fixation, 4 s Aufgabe, anschließend 6–8 s Erholung.</a:t>
            </a:r>
          </a:p>
        </p:txBody>
      </p:sp>
      <p:sp>
        <p:nvSpPr>
          <p:cNvPr id="5" name="">
            <a:extLst xmlns:a="http://schemas.openxmlformats.org/drawingml/2006/main">
              <a:ext uri="{FF2B5EF4-FFF2-40B4-BE49-F238E27FC236}">
                <a16:creationId xmlns:a16="http://schemas.microsoft.com/office/drawing/2014/main" id="{1ABA619C-4D25-4803-9376-5F63C827BC6C}"/>
              </a:ext>
            </a:extLst>
          </p:cNvPr>
          <p:cNvSpPr>
            <a:spLocks xmlns:a="http://schemas.openxmlformats.org/drawingml/2006/main" noGrp="1"/>
          </p:cNvSpPr>
          <p:nvPr/>
        </p:nvSpPr>
        <p:spPr>
          <a:xfrm xmlns:a="http://schemas.openxmlformats.org/drawingml/2006/main">
            <a:off x="704850" y="27336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Kopfrechnen</a:t>
            </a:r>
          </a:p>
        </p:txBody>
      </p:sp>
      <p:sp>
        <p:nvSpPr>
          <p:cNvPr id="6" name="">
            <a:extLst xmlns:a="http://schemas.openxmlformats.org/drawingml/2006/main">
              <a:ext uri="{FF2B5EF4-FFF2-40B4-BE49-F238E27FC236}">
                <a16:creationId xmlns:a16="http://schemas.microsoft.com/office/drawing/2014/main" id="{5EA54081-1E8F-41C2-92D4-A6DD87F39316}"/>
              </a:ext>
            </a:extLst>
          </p:cNvPr>
          <p:cNvSpPr>
            <a:spLocks xmlns:a="http://schemas.openxmlformats.org/drawingml/2006/main" noGrp="1"/>
          </p:cNvSpPr>
          <p:nvPr/>
        </p:nvSpPr>
        <p:spPr>
          <a:xfrm xmlns:a="http://schemas.openxmlformats.org/drawingml/2006/main">
            <a:off x="3981450" y="27336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2 s Zahleninstruktion, 10 s stilles Rechnen, anschließend 15–17 s Erholung.</a:t>
            </a:r>
          </a:p>
        </p:txBody>
      </p:sp>
      <p:sp>
        <p:nvSpPr>
          <p:cNvPr id="7" name="">
            <a:extLst xmlns:a="http://schemas.openxmlformats.org/drawingml/2006/main">
              <a:ext uri="{FF2B5EF4-FFF2-40B4-BE49-F238E27FC236}">
                <a16:creationId xmlns:a16="http://schemas.microsoft.com/office/drawing/2014/main" id="{97AB972D-7A76-44C6-BA04-3BD3B60B1530}"/>
              </a:ext>
            </a:extLst>
          </p:cNvPr>
          <p:cNvSpPr>
            <a:spLocks xmlns:a="http://schemas.openxmlformats.org/drawingml/2006/main" noGrp="1"/>
          </p:cNvSpPr>
          <p:nvPr/>
        </p:nvSpPr>
        <p:spPr>
          <a:xfrm xmlns:a="http://schemas.openxmlformats.org/drawingml/2006/main">
            <a:off x="704850" y="37528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Blöcke und Pausen</a:t>
            </a:r>
          </a:p>
        </p:txBody>
      </p:sp>
      <p:sp>
        <p:nvSpPr>
          <p:cNvPr id="8" name="">
            <a:extLst xmlns:a="http://schemas.openxmlformats.org/drawingml/2006/main">
              <a:ext uri="{FF2B5EF4-FFF2-40B4-BE49-F238E27FC236}">
                <a16:creationId xmlns:a16="http://schemas.microsoft.com/office/drawing/2014/main" id="{A2A3C8F8-A71C-400C-B5F6-54D1023F158B}"/>
              </a:ext>
            </a:extLst>
          </p:cNvPr>
          <p:cNvSpPr>
            <a:spLocks xmlns:a="http://schemas.openxmlformats.org/drawingml/2006/main" noGrp="1"/>
          </p:cNvSpPr>
          <p:nvPr/>
        </p:nvSpPr>
        <p:spPr>
          <a:xfrm xmlns:a="http://schemas.openxmlformats.org/drawingml/2006/main">
            <a:off x="3981450" y="37528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Kurze Aufgabenblöcke mit 45 s Pause dazwischen. Zwischen Hauptläufen 90 s.</a:t>
            </a:r>
          </a:p>
        </p:txBody>
      </p:sp>
      <p:sp>
        <p:nvSpPr>
          <p:cNvPr id="9" name="">
            <a:extLst xmlns:a="http://schemas.openxmlformats.org/drawingml/2006/main">
              <a:ext uri="{FF2B5EF4-FFF2-40B4-BE49-F238E27FC236}">
                <a16:creationId xmlns:a16="http://schemas.microsoft.com/office/drawing/2014/main" id="{C8E82B8B-C11D-4CB3-9EED-672F569DE8C9}"/>
              </a:ext>
            </a:extLst>
          </p:cNvPr>
          <p:cNvSpPr>
            <a:spLocks xmlns:a="http://schemas.openxmlformats.org/drawingml/2006/main" noGrp="1"/>
          </p:cNvSpPr>
          <p:nvPr/>
        </p:nvSpPr>
        <p:spPr>
          <a:xfrm xmlns:a="http://schemas.openxmlformats.org/drawingml/2006/main">
            <a:off x="723900" y="50101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3"/>
                </a:solidFill>
              </a:defRPr>
            </a:defPPr>
          </a:lstStyle>
          <a:p xmlns:a="http://schemas.openxmlformats.org/drawingml/2006/main">
            <a:pPr>
              <a:defRPr sz="2850" b="1">
                <a:solidFill>
                  <a:srgbClr val="087F83"/>
                </a:solidFill>
              </a:defRPr>
            </a:pPr>
            <a:r>
              <a:rPr sz="2850" b="1">
                <a:solidFill>
                  <a:srgbClr val="087F83"/>
                </a:solidFill>
              </a:rPr>
              <a:t>112 Aufgaben-Trials</a:t>
            </a:r>
          </a:p>
        </p:txBody>
      </p:sp>
      <p:sp>
        <p:nvSpPr>
          <p:cNvPr id="10" name="">
            <a:extLst xmlns:a="http://schemas.openxmlformats.org/drawingml/2006/main">
              <a:ext uri="{FF2B5EF4-FFF2-40B4-BE49-F238E27FC236}">
                <a16:creationId xmlns:a16="http://schemas.microsoft.com/office/drawing/2014/main" id="{E4136898-7978-4942-8A72-B8ED00BA435E}"/>
              </a:ext>
            </a:extLst>
          </p:cNvPr>
          <p:cNvSpPr>
            <a:spLocks xmlns:a="http://schemas.openxmlformats.org/drawingml/2006/main" noGrp="1"/>
          </p:cNvSpPr>
          <p:nvPr/>
        </p:nvSpPr>
        <p:spPr>
          <a:xfrm xmlns:a="http://schemas.openxmlformats.org/drawingml/2006/main">
            <a:off x="723900" y="5619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563"/>
                </a:solidFill>
              </a:defRPr>
            </a:defPPr>
          </a:lstStyle>
          <a:p xmlns:a="http://schemas.openxmlformats.org/drawingml/2006/main">
            <a:pPr>
              <a:defRPr sz="1875" b="0">
                <a:solidFill>
                  <a:srgbClr val="435563"/>
                </a:solidFill>
              </a:defRPr>
            </a:pPr>
            <a:r>
              <a:rPr sz="1875" b="0">
                <a:solidFill>
                  <a:srgbClr val="435563"/>
                </a:solidFill>
              </a:rPr>
              <a:t>29:16 min Messzeit, mit geplanten Zusatzpausen 38:16 min</a:t>
            </a:r>
          </a:p>
          <a:p xmlns:a="http://schemas.openxmlformats.org/drawingml/2006/main">
            <a:pPr>
              <a:defRPr sz="1875" b="0">
                <a:solidFill>
                  <a:srgbClr val="435563"/>
                </a:solidFill>
              </a:defRPr>
            </a:pPr>
            <a:r>
              <a:rPr sz="1875" b="0">
                <a:solidFill>
                  <a:srgbClr val="435563"/>
                </a:solidFill>
              </a:rPr>
              <a:t>Aufbau, Einweisung und Übung kommen hinzu.</a:t>
            </a:r>
          </a:p>
        </p:txBody>
      </p:sp>
    </p:spTree>
    <p:extLst>
      <p:ext uri="{BB962C8B-B14F-4D97-AF65-F5344CB8AC3E}">
        <p14:creationId xmlns:p14="http://schemas.microsoft.com/office/powerpoint/2010/main" val="799303895"/>
      </p:ext>
    </p:extLst>
  </p:cSld>
</p:sld>
</file>

<file path=ppt/slides/slide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0E525F-5119-4C42-88DD-660C1BD81598}"/>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Auswertung in Python</a:t>
            </a:r>
          </a:p>
        </p:txBody>
      </p:sp>
      <p:sp>
        <p:nvSpPr>
          <p:cNvPr id="2" name="">
            <a:extLst xmlns:a="http://schemas.openxmlformats.org/drawingml/2006/main">
              <a:ext uri="{FF2B5EF4-FFF2-40B4-BE49-F238E27FC236}">
                <a16:creationId xmlns:a16="http://schemas.microsoft.com/office/drawing/2014/main" id="{4A7F75FE-5111-4DF7-9C9E-3AD18D414450}"/>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07</a:t>
            </a:r>
          </a:p>
        </p:txBody>
      </p:sp>
      <p:sp>
        <p:nvSpPr>
          <p:cNvPr id="3" name="">
            <a:extLst xmlns:a="http://schemas.openxmlformats.org/drawingml/2006/main">
              <a:ext uri="{FF2B5EF4-FFF2-40B4-BE49-F238E27FC236}">
                <a16:creationId xmlns:a16="http://schemas.microsoft.com/office/drawing/2014/main" id="{972A5D1F-D68D-4A09-8140-333ED82D9F45}"/>
              </a:ext>
            </a:extLst>
          </p:cNvPr>
          <p:cNvSpPr>
            <a:spLocks xmlns:a="http://schemas.openxmlformats.org/drawingml/2006/main" noGrp="1"/>
          </p:cNvSpPr>
          <p:nvPr/>
        </p:nvSpPr>
        <p:spPr>
          <a:xfrm xmlns:a="http://schemas.openxmlformats.org/drawingml/2006/main">
            <a:off x="704850" y="1704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Daten laden</a:t>
            </a:r>
          </a:p>
        </p:txBody>
      </p:sp>
      <p:sp>
        <p:nvSpPr>
          <p:cNvPr id="4" name="">
            <a:extLst xmlns:a="http://schemas.openxmlformats.org/drawingml/2006/main">
              <a:ext uri="{FF2B5EF4-FFF2-40B4-BE49-F238E27FC236}">
                <a16:creationId xmlns:a16="http://schemas.microsoft.com/office/drawing/2014/main" id="{A8B8BC18-F5F3-44BC-B916-8B185D80B8B0}"/>
              </a:ext>
            </a:extLst>
          </p:cNvPr>
          <p:cNvSpPr>
            <a:spLocks xmlns:a="http://schemas.openxmlformats.org/drawingml/2006/main" noGrp="1"/>
          </p:cNvSpPr>
          <p:nvPr/>
        </p:nvSpPr>
        <p:spPr>
          <a:xfrm xmlns:a="http://schemas.openxmlformats.org/drawingml/2006/main">
            <a:off x="3981450" y="1704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Die CLI speichert EEG und Aufgabenmarker. Python liest beide Dateien ein.</a:t>
            </a:r>
          </a:p>
        </p:txBody>
      </p:sp>
      <p:sp>
        <p:nvSpPr>
          <p:cNvPr id="5" name="">
            <a:extLst xmlns:a="http://schemas.openxmlformats.org/drawingml/2006/main">
              <a:ext uri="{FF2B5EF4-FFF2-40B4-BE49-F238E27FC236}">
                <a16:creationId xmlns:a16="http://schemas.microsoft.com/office/drawing/2014/main" id="{1D5D304A-9EB7-4D96-9E4A-FDD5DE06D6BC}"/>
              </a:ext>
            </a:extLst>
          </p:cNvPr>
          <p:cNvSpPr>
            <a:spLocks xmlns:a="http://schemas.openxmlformats.org/drawingml/2006/main" noGrp="1"/>
          </p:cNvSpPr>
          <p:nvPr/>
        </p:nvSpPr>
        <p:spPr>
          <a:xfrm xmlns:a="http://schemas.openxmlformats.org/drawingml/2006/main">
            <a:off x="704850" y="27527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Signale prüfen</a:t>
            </a:r>
          </a:p>
        </p:txBody>
      </p:sp>
      <p:sp>
        <p:nvSpPr>
          <p:cNvPr id="6" name="">
            <a:extLst xmlns:a="http://schemas.openxmlformats.org/drawingml/2006/main">
              <a:ext uri="{FF2B5EF4-FFF2-40B4-BE49-F238E27FC236}">
                <a16:creationId xmlns:a16="http://schemas.microsoft.com/office/drawing/2014/main" id="{83E136F3-3BFD-4EE0-80F7-6E4E256B82C5}"/>
              </a:ext>
            </a:extLst>
          </p:cNvPr>
          <p:cNvSpPr>
            <a:spLocks xmlns:a="http://schemas.openxmlformats.org/drawingml/2006/main" noGrp="1"/>
          </p:cNvSpPr>
          <p:nvPr/>
        </p:nvSpPr>
        <p:spPr>
          <a:xfrm xmlns:a="http://schemas.openxmlformats.org/drawingml/2006/main">
            <a:off x="3981450" y="27527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EEG-Kurven ansehen und gestörte Abschnitte erkennen, etwa durch Bewegung oder Blinzeln.</a:t>
            </a:r>
          </a:p>
        </p:txBody>
      </p:sp>
      <p:sp>
        <p:nvSpPr>
          <p:cNvPr id="7" name="">
            <a:extLst xmlns:a="http://schemas.openxmlformats.org/drawingml/2006/main">
              <a:ext uri="{FF2B5EF4-FFF2-40B4-BE49-F238E27FC236}">
                <a16:creationId xmlns:a16="http://schemas.microsoft.com/office/drawing/2014/main" id="{AC9FAD24-B9E1-4729-8CBC-26E51E01B005}"/>
              </a:ext>
            </a:extLst>
          </p:cNvPr>
          <p:cNvSpPr>
            <a:spLocks xmlns:a="http://schemas.openxmlformats.org/drawingml/2006/main" noGrp="1"/>
          </p:cNvSpPr>
          <p:nvPr/>
        </p:nvSpPr>
        <p:spPr>
          <a:xfrm xmlns:a="http://schemas.openxmlformats.org/drawingml/2006/main">
            <a:off x="704850" y="3800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Aufgaben vergleichen</a:t>
            </a:r>
          </a:p>
        </p:txBody>
      </p:sp>
      <p:sp>
        <p:nvSpPr>
          <p:cNvPr id="8" name="">
            <a:extLst xmlns:a="http://schemas.openxmlformats.org/drawingml/2006/main">
              <a:ext uri="{FF2B5EF4-FFF2-40B4-BE49-F238E27FC236}">
                <a16:creationId xmlns:a16="http://schemas.microsoft.com/office/drawing/2014/main" id="{C79E8AE5-FC25-4CA1-9434-D9E2670183DE}"/>
              </a:ext>
            </a:extLst>
          </p:cNvPr>
          <p:cNvSpPr>
            <a:spLocks xmlns:a="http://schemas.openxmlformats.org/drawingml/2006/main" noGrp="1"/>
          </p:cNvSpPr>
          <p:nvPr/>
        </p:nvSpPr>
        <p:spPr>
          <a:xfrm xmlns:a="http://schemas.openxmlformats.org/drawingml/2006/main">
            <a:off x="3981450" y="3800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Signale nach Aufgabe aufteilen und typische Unterschiede untersuchen, z. B. in Frequenzbändern.</a:t>
            </a:r>
          </a:p>
        </p:txBody>
      </p:sp>
      <p:sp>
        <p:nvSpPr>
          <p:cNvPr id="9" name="">
            <a:extLst xmlns:a="http://schemas.openxmlformats.org/drawingml/2006/main">
              <a:ext uri="{FF2B5EF4-FFF2-40B4-BE49-F238E27FC236}">
                <a16:creationId xmlns:a16="http://schemas.microsoft.com/office/drawing/2014/main" id="{EBCF935F-4F1E-4824-8D96-48BA06CE177E}"/>
              </a:ext>
            </a:extLst>
          </p:cNvPr>
          <p:cNvSpPr>
            <a:spLocks xmlns:a="http://schemas.openxmlformats.org/drawingml/2006/main" noGrp="1"/>
          </p:cNvSpPr>
          <p:nvPr/>
        </p:nvSpPr>
        <p:spPr>
          <a:xfrm xmlns:a="http://schemas.openxmlformats.org/drawingml/2006/main">
            <a:off x="704850" y="4848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4  Erkennung testen</a:t>
            </a:r>
          </a:p>
        </p:txBody>
      </p:sp>
      <p:sp>
        <p:nvSpPr>
          <p:cNvPr id="10" name="">
            <a:extLst xmlns:a="http://schemas.openxmlformats.org/drawingml/2006/main">
              <a:ext uri="{FF2B5EF4-FFF2-40B4-BE49-F238E27FC236}">
                <a16:creationId xmlns:a16="http://schemas.microsoft.com/office/drawing/2014/main" id="{FDD30E7A-4168-4EAD-8254-9308DC5D463C}"/>
              </a:ext>
            </a:extLst>
          </p:cNvPr>
          <p:cNvSpPr>
            <a:spLocks xmlns:a="http://schemas.openxmlformats.org/drawingml/2006/main" noGrp="1"/>
          </p:cNvSpPr>
          <p:nvPr/>
        </p:nvSpPr>
        <p:spPr>
          <a:xfrm xmlns:a="http://schemas.openxmlformats.org/drawingml/2006/main">
            <a:off x="3981450" y="4848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Prüfen, ob ein Modell die Aufgaben anhand neuer, zuvor ungenutzter Daten unterscheiden kann.</a:t>
            </a:r>
          </a:p>
        </p:txBody>
      </p:sp>
    </p:spTree>
    <p:extLst>
      <p:ext uri="{BB962C8B-B14F-4D97-AF65-F5344CB8AC3E}">
        <p14:creationId xmlns:p14="http://schemas.microsoft.com/office/powerpoint/2010/main" val="1692697381"/>
      </p:ext>
    </p:extLst>
  </p:cSld>
</p:sld>
</file>

<file path=ppt/slides/slide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6CB174F-8C74-4EC8-8371-0BDB5BE89ED8}"/>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Nächster Schritt: Datenerhebung</a:t>
            </a:r>
          </a:p>
        </p:txBody>
      </p:sp>
      <p:sp>
        <p:nvSpPr>
          <p:cNvPr id="2" name="">
            <a:extLst xmlns:a="http://schemas.openxmlformats.org/drawingml/2006/main">
              <a:ext uri="{FF2B5EF4-FFF2-40B4-BE49-F238E27FC236}">
                <a16:creationId xmlns:a16="http://schemas.microsoft.com/office/drawing/2014/main" id="{EBA3159D-2A75-40B1-A1C5-96781F031EA3}"/>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08</a:t>
            </a:r>
          </a:p>
        </p:txBody>
      </p:sp>
      <p:sp>
        <p:nvSpPr>
          <p:cNvPr id="3" name="">
            <a:extLst xmlns:a="http://schemas.openxmlformats.org/drawingml/2006/main">
              <a:ext uri="{FF2B5EF4-FFF2-40B4-BE49-F238E27FC236}">
                <a16:creationId xmlns:a16="http://schemas.microsoft.com/office/drawing/2014/main" id="{A62AFE53-87E6-4BA1-A506-736E41DA1AE0}"/>
              </a:ext>
            </a:extLst>
          </p:cNvPr>
          <p:cNvSpPr>
            <a:spLocks xmlns:a="http://schemas.openxmlformats.org/drawingml/2006/main" noGrp="1"/>
          </p:cNvSpPr>
          <p:nvPr/>
        </p:nvSpPr>
        <p:spPr>
          <a:xfrm xmlns:a="http://schemas.openxmlformats.org/drawingml/2006/main">
            <a:off x="723900" y="17049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87F83"/>
                </a:solidFill>
              </a:defRPr>
            </a:defPPr>
          </a:lstStyle>
          <a:p xmlns:a="http://schemas.openxmlformats.org/drawingml/2006/main">
            <a:pPr>
              <a:defRPr sz="2925" b="1">
                <a:solidFill>
                  <a:srgbClr val="087F83"/>
                </a:solidFill>
              </a:defRPr>
            </a:pPr>
            <a:r>
              <a:rPr sz="2925" b="1">
                <a:solidFill>
                  <a:srgbClr val="087F83"/>
                </a:solidFill>
              </a:rPr>
              <a:t>Erster Lauf am Montag, 19. Oktober 2026</a:t>
            </a:r>
          </a:p>
        </p:txBody>
      </p:sp>
      <p:sp>
        <p:nvSpPr>
          <p:cNvPr id="4" name="">
            <a:extLst xmlns:a="http://schemas.openxmlformats.org/drawingml/2006/main">
              <a:ext uri="{FF2B5EF4-FFF2-40B4-BE49-F238E27FC236}">
                <a16:creationId xmlns:a16="http://schemas.microsoft.com/office/drawing/2014/main" id="{C573E2CB-0188-4DD9-A8C2-04EDB78A5A8A}"/>
              </a:ext>
            </a:extLst>
          </p:cNvPr>
          <p:cNvSpPr>
            <a:spLocks xmlns:a="http://schemas.openxmlformats.org/drawingml/2006/main" noGrp="1"/>
          </p:cNvSpPr>
          <p:nvPr/>
        </p:nvSpPr>
        <p:spPr>
          <a:xfrm xmlns:a="http://schemas.openxmlformats.org/drawingml/2006/main">
            <a:off x="704850" y="30384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Vorbereitung</a:t>
            </a:r>
          </a:p>
        </p:txBody>
      </p:sp>
      <p:sp>
        <p:nvSpPr>
          <p:cNvPr id="5" name="">
            <a:extLst xmlns:a="http://schemas.openxmlformats.org/drawingml/2006/main">
              <a:ext uri="{FF2B5EF4-FFF2-40B4-BE49-F238E27FC236}">
                <a16:creationId xmlns:a16="http://schemas.microsoft.com/office/drawing/2014/main" id="{8C149549-5150-4FC2-A5D0-140DE0F6F64A}"/>
              </a:ext>
            </a:extLst>
          </p:cNvPr>
          <p:cNvSpPr>
            <a:spLocks xmlns:a="http://schemas.openxmlformats.org/drawingml/2006/main" noGrp="1"/>
          </p:cNvSpPr>
          <p:nvPr/>
        </p:nvSpPr>
        <p:spPr>
          <a:xfrm xmlns:a="http://schemas.openxmlformats.org/drawingml/2006/main">
            <a:off x="3981450" y="30384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Headset und Kanäle prüfen, Einwilligung einholen, Aufgaben kurz üben und Versuchsordner anlegen.</a:t>
            </a:r>
          </a:p>
        </p:txBody>
      </p:sp>
      <p:sp>
        <p:nvSpPr>
          <p:cNvPr id="6" name="">
            <a:extLst xmlns:a="http://schemas.openxmlformats.org/drawingml/2006/main">
              <a:ext uri="{FF2B5EF4-FFF2-40B4-BE49-F238E27FC236}">
                <a16:creationId xmlns:a16="http://schemas.microsoft.com/office/drawing/2014/main" id="{204C2B12-6E29-4635-A078-849B09446556}"/>
              </a:ext>
            </a:extLst>
          </p:cNvPr>
          <p:cNvSpPr>
            <a:spLocks xmlns:a="http://schemas.openxmlformats.org/drawingml/2006/main" noGrp="1"/>
          </p:cNvSpPr>
          <p:nvPr/>
        </p:nvSpPr>
        <p:spPr>
          <a:xfrm xmlns:a="http://schemas.openxmlformats.org/drawingml/2006/main">
            <a:off x="704850" y="408622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Erste Aufnahme</a:t>
            </a:r>
          </a:p>
        </p:txBody>
      </p:sp>
      <p:sp>
        <p:nvSpPr>
          <p:cNvPr id="7" name="">
            <a:extLst xmlns:a="http://schemas.openxmlformats.org/drawingml/2006/main">
              <a:ext uri="{FF2B5EF4-FFF2-40B4-BE49-F238E27FC236}">
                <a16:creationId xmlns:a16="http://schemas.microsoft.com/office/drawing/2014/main" id="{07ED917D-F15B-4F46-AF43-8274F628EF4C}"/>
              </a:ext>
            </a:extLst>
          </p:cNvPr>
          <p:cNvSpPr>
            <a:spLocks xmlns:a="http://schemas.openxmlformats.org/drawingml/2006/main" noGrp="1"/>
          </p:cNvSpPr>
          <p:nvPr/>
        </p:nvSpPr>
        <p:spPr>
          <a:xfrm xmlns:a="http://schemas.openxmlformats.org/drawingml/2006/main">
            <a:off x="3981450" y="408622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Szenarien mit Teilnehmeranzeige durchführen. EEG und Marker speichern, Auffälligkeiten dokumentieren.</a:t>
            </a:r>
          </a:p>
        </p:txBody>
      </p:sp>
      <p:sp>
        <p:nvSpPr>
          <p:cNvPr id="8" name="">
            <a:extLst xmlns:a="http://schemas.openxmlformats.org/drawingml/2006/main">
              <a:ext uri="{FF2B5EF4-FFF2-40B4-BE49-F238E27FC236}">
                <a16:creationId xmlns:a16="http://schemas.microsoft.com/office/drawing/2014/main" id="{A3C58F5F-0988-4373-9C54-FE862F67CF54}"/>
              </a:ext>
            </a:extLst>
          </p:cNvPr>
          <p:cNvSpPr>
            <a:spLocks xmlns:a="http://schemas.openxmlformats.org/drawingml/2006/main" noGrp="1"/>
          </p:cNvSpPr>
          <p:nvPr/>
        </p:nvSpPr>
        <p:spPr>
          <a:xfrm xmlns:a="http://schemas.openxmlformats.org/drawingml/2006/main">
            <a:off x="704850" y="51339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Direkte Nachkontrolle</a:t>
            </a:r>
          </a:p>
        </p:txBody>
      </p:sp>
      <p:sp>
        <p:nvSpPr>
          <p:cNvPr id="9" name="">
            <a:extLst xmlns:a="http://schemas.openxmlformats.org/drawingml/2006/main">
              <a:ext uri="{FF2B5EF4-FFF2-40B4-BE49-F238E27FC236}">
                <a16:creationId xmlns:a16="http://schemas.microsoft.com/office/drawing/2014/main" id="{8F3051E1-FE59-4A04-8B1F-0C067AFFCA95}"/>
              </a:ext>
            </a:extLst>
          </p:cNvPr>
          <p:cNvSpPr>
            <a:spLocks xmlns:a="http://schemas.openxmlformats.org/drawingml/2006/main" noGrp="1"/>
          </p:cNvSpPr>
          <p:nvPr/>
        </p:nvSpPr>
        <p:spPr>
          <a:xfrm xmlns:a="http://schemas.openxmlformats.org/drawingml/2006/main">
            <a:off x="3981450" y="51339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Dateien in MNE öffnen, Signalqualität und Marker prüfen. Ablauf für weitere Datenerhebungen anpassen.</a:t>
            </a:r>
          </a:p>
        </p:txBody>
      </p:sp>
    </p:spTree>
    <p:extLst>
      <p:ext uri="{BB962C8B-B14F-4D97-AF65-F5344CB8AC3E}">
        <p14:creationId xmlns:p14="http://schemas.microsoft.com/office/powerpoint/2010/main" val="998180832"/>
      </p:ext>
    </p:extLst>
  </p:cSld>
</p:sld>
</file>

<file path=ppt/slides/slide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608EED-C693-4A4D-9B87-9FD9F680582F}"/>
              </a:ext>
            </a:extLst>
          </p:cNvPr>
          <p:cNvSpPr>
            <a:spLocks xmlns:a="http://schemas.openxmlformats.org/drawingml/2006/main" noGrp="1"/>
          </p:cNvSpPr>
          <p:nvPr/>
        </p:nvSpPr>
        <p:spPr>
          <a:xfrm xmlns:a="http://schemas.openxmlformats.org/drawingml/2006/main">
            <a:off x="685800" y="5238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B3B"/>
                </a:solidFill>
              </a:defRPr>
            </a:defPPr>
          </a:lstStyle>
          <a:p xmlns:a="http://schemas.openxmlformats.org/drawingml/2006/main">
            <a:pPr>
              <a:defRPr sz="3450" b="1">
                <a:solidFill>
                  <a:srgbClr val="142B3B"/>
                </a:solidFill>
              </a:defRPr>
            </a:pPr>
            <a:r>
              <a:rPr sz="3450" b="1">
                <a:solidFill>
                  <a:srgbClr val="142B3B"/>
                </a:solidFill>
              </a:rPr>
              <a:t>Demo</a:t>
            </a:r>
          </a:p>
        </p:txBody>
      </p:sp>
      <p:sp>
        <p:nvSpPr>
          <p:cNvPr id="2" name="">
            <a:extLst xmlns:a="http://schemas.openxmlformats.org/drawingml/2006/main">
              <a:ext uri="{FF2B5EF4-FFF2-40B4-BE49-F238E27FC236}">
                <a16:creationId xmlns:a16="http://schemas.microsoft.com/office/drawing/2014/main" id="{CF92037B-F5FC-4D3E-AC64-FE05142F2FD4}"/>
              </a:ext>
            </a:extLst>
          </p:cNvPr>
          <p:cNvSpPr>
            <a:spLocks xmlns:a="http://schemas.openxmlformats.org/drawingml/2006/main" noGrp="1"/>
          </p:cNvSpPr>
          <p:nvPr/>
        </p:nvSpPr>
        <p:spPr>
          <a:xfrm xmlns:a="http://schemas.openxmlformats.org/drawingml/2006/main">
            <a:off x="1095375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35563"/>
                </a:solidFill>
              </a:defRPr>
            </a:defPPr>
          </a:lstStyle>
          <a:p xmlns:a="http://schemas.openxmlformats.org/drawingml/2006/main">
            <a:pPr>
              <a:defRPr sz="1350" b="0">
                <a:solidFill>
                  <a:srgbClr val="435563"/>
                </a:solidFill>
              </a:defRPr>
            </a:pPr>
            <a:r>
              <a:rPr sz="1350" b="0">
                <a:solidFill>
                  <a:srgbClr val="435563"/>
                </a:solidFill>
              </a:rPr>
              <a:t>09</a:t>
            </a:r>
          </a:p>
        </p:txBody>
      </p:sp>
      <p:sp>
        <p:nvSpPr>
          <p:cNvPr id="3" name="">
            <a:extLst xmlns:a="http://schemas.openxmlformats.org/drawingml/2006/main">
              <a:ext uri="{FF2B5EF4-FFF2-40B4-BE49-F238E27FC236}">
                <a16:creationId xmlns:a16="http://schemas.microsoft.com/office/drawing/2014/main" id="{4A1E16A9-80FA-4F60-9CC8-A4A28E6D788A}"/>
              </a:ext>
            </a:extLst>
          </p:cNvPr>
          <p:cNvSpPr>
            <a:spLocks xmlns:a="http://schemas.openxmlformats.org/drawingml/2006/main" noGrp="1"/>
          </p:cNvSpPr>
          <p:nvPr/>
        </p:nvSpPr>
        <p:spPr>
          <a:xfrm xmlns:a="http://schemas.openxmlformats.org/drawingml/2006/main">
            <a:off x="704850" y="17907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1  Start</a:t>
            </a:r>
          </a:p>
        </p:txBody>
      </p:sp>
      <p:sp>
        <p:nvSpPr>
          <p:cNvPr id="4" name="">
            <a:extLst xmlns:a="http://schemas.openxmlformats.org/drawingml/2006/main">
              <a:ext uri="{FF2B5EF4-FFF2-40B4-BE49-F238E27FC236}">
                <a16:creationId xmlns:a16="http://schemas.microsoft.com/office/drawing/2014/main" id="{9D40D80D-9FBA-49E2-991F-C8B8CC597D0A}"/>
              </a:ext>
            </a:extLst>
          </p:cNvPr>
          <p:cNvSpPr>
            <a:spLocks xmlns:a="http://schemas.openxmlformats.org/drawingml/2006/main" noGrp="1"/>
          </p:cNvSpPr>
          <p:nvPr/>
        </p:nvSpPr>
        <p:spPr>
          <a:xfrm xmlns:a="http://schemas.openxmlformats.org/drawingml/2006/main">
            <a:off x="3981450" y="179070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Windows-Build starten, Headset verbinden und Teilnehmerfenster öffnen.</a:t>
            </a:r>
          </a:p>
        </p:txBody>
      </p:sp>
      <p:sp>
        <p:nvSpPr>
          <p:cNvPr id="5" name="">
            <a:extLst xmlns:a="http://schemas.openxmlformats.org/drawingml/2006/main">
              <a:ext uri="{FF2B5EF4-FFF2-40B4-BE49-F238E27FC236}">
                <a16:creationId xmlns:a16="http://schemas.microsoft.com/office/drawing/2014/main" id="{9B0F0DC6-CCEB-4C38-BED2-B3CF907342B7}"/>
              </a:ext>
            </a:extLst>
          </p:cNvPr>
          <p:cNvSpPr>
            <a:spLocks xmlns:a="http://schemas.openxmlformats.org/drawingml/2006/main" noGrp="1"/>
          </p:cNvSpPr>
          <p:nvPr/>
        </p:nvSpPr>
        <p:spPr>
          <a:xfrm xmlns:a="http://schemas.openxmlformats.org/drawingml/2006/main">
            <a:off x="704850" y="2924175"/>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2  Aufnahme</a:t>
            </a:r>
          </a:p>
        </p:txBody>
      </p:sp>
      <p:sp>
        <p:nvSpPr>
          <p:cNvPr id="6" name="">
            <a:extLst xmlns:a="http://schemas.openxmlformats.org/drawingml/2006/main">
              <a:ext uri="{FF2B5EF4-FFF2-40B4-BE49-F238E27FC236}">
                <a16:creationId xmlns:a16="http://schemas.microsoft.com/office/drawing/2014/main" id="{8B0CF75C-0A34-40BA-81F9-BA179B800CDB}"/>
              </a:ext>
            </a:extLst>
          </p:cNvPr>
          <p:cNvSpPr>
            <a:spLocks xmlns:a="http://schemas.openxmlformats.org/drawingml/2006/main" noGrp="1"/>
          </p:cNvSpPr>
          <p:nvPr/>
        </p:nvSpPr>
        <p:spPr>
          <a:xfrm xmlns:a="http://schemas.openxmlformats.org/drawingml/2006/main">
            <a:off x="3981450" y="2924175"/>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EEG aufzeichnen und Szenarien per Befehl wechseln: Bewegung, Vorstellung und Kopfrechnen.</a:t>
            </a:r>
          </a:p>
        </p:txBody>
      </p:sp>
      <p:sp>
        <p:nvSpPr>
          <p:cNvPr id="7" name="">
            <a:extLst xmlns:a="http://schemas.openxmlformats.org/drawingml/2006/main">
              <a:ext uri="{FF2B5EF4-FFF2-40B4-BE49-F238E27FC236}">
                <a16:creationId xmlns:a16="http://schemas.microsoft.com/office/drawing/2014/main" id="{09443484-00E8-4FD4-93CE-D488AA6EA28A}"/>
              </a:ext>
            </a:extLst>
          </p:cNvPr>
          <p:cNvSpPr>
            <a:spLocks xmlns:a="http://schemas.openxmlformats.org/drawingml/2006/main" noGrp="1"/>
          </p:cNvSpPr>
          <p:nvPr/>
        </p:nvSpPr>
        <p:spPr>
          <a:xfrm xmlns:a="http://schemas.openxmlformats.org/drawingml/2006/main">
            <a:off x="704850" y="40576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3"/>
                </a:solidFill>
              </a:defRPr>
            </a:defPPr>
          </a:lstStyle>
          <a:p xmlns:a="http://schemas.openxmlformats.org/drawingml/2006/main">
            <a:pPr>
              <a:defRPr sz="2175" b="1">
                <a:solidFill>
                  <a:srgbClr val="087F83"/>
                </a:solidFill>
              </a:defRPr>
            </a:pPr>
            <a:r>
              <a:rPr sz="2175" b="1">
                <a:solidFill>
                  <a:srgbClr val="087F83"/>
                </a:solidFill>
              </a:rPr>
              <a:t>3  Ergebnis</a:t>
            </a:r>
          </a:p>
        </p:txBody>
      </p:sp>
      <p:sp>
        <p:nvSpPr>
          <p:cNvPr id="8" name="">
            <a:extLst xmlns:a="http://schemas.openxmlformats.org/drawingml/2006/main">
              <a:ext uri="{FF2B5EF4-FFF2-40B4-BE49-F238E27FC236}">
                <a16:creationId xmlns:a16="http://schemas.microsoft.com/office/drawing/2014/main" id="{14D142E2-291A-47E0-ABA2-0A7D9E0E7A3D}"/>
              </a:ext>
            </a:extLst>
          </p:cNvPr>
          <p:cNvSpPr>
            <a:spLocks xmlns:a="http://schemas.openxmlformats.org/drawingml/2006/main" noGrp="1"/>
          </p:cNvSpPr>
          <p:nvPr/>
        </p:nvSpPr>
        <p:spPr>
          <a:xfrm xmlns:a="http://schemas.openxmlformats.org/drawingml/2006/main">
            <a:off x="3981450" y="4057650"/>
            <a:ext cx="7381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B3B"/>
                </a:solidFill>
              </a:defRPr>
            </a:defPPr>
          </a:lstStyle>
          <a:p xmlns:a="http://schemas.openxmlformats.org/drawingml/2006/main">
            <a:pPr>
              <a:defRPr sz="2100" b="0">
                <a:solidFill>
                  <a:srgbClr val="142B3B"/>
                </a:solidFill>
              </a:defRPr>
            </a:pPr>
            <a:r>
              <a:rPr sz="2100" b="0">
                <a:solidFill>
                  <a:srgbClr val="142B3B"/>
                </a:solidFill>
              </a:rPr>
              <a:t>Aufnahme stoppen und EEG-Datei mit Aufgabenmarkern in Python ansehen.</a:t>
            </a:r>
          </a:p>
        </p:txBody>
      </p:sp>
      <p:sp>
        <p:nvSpPr>
          <p:cNvPr id="9" name="">
            <a:extLst xmlns:a="http://schemas.openxmlformats.org/drawingml/2006/main">
              <a:ext uri="{FF2B5EF4-FFF2-40B4-BE49-F238E27FC236}">
                <a16:creationId xmlns:a16="http://schemas.microsoft.com/office/drawing/2014/main" id="{45493D00-CEC1-41D2-BA87-CFD69811BBE8}"/>
              </a:ext>
            </a:extLst>
          </p:cNvPr>
          <p:cNvSpPr>
            <a:spLocks xmlns:a="http://schemas.openxmlformats.org/drawingml/2006/main" noGrp="1"/>
          </p:cNvSpPr>
          <p:nvPr/>
        </p:nvSpPr>
        <p:spPr>
          <a:xfrm xmlns:a="http://schemas.openxmlformats.org/drawingml/2006/main">
            <a:off x="723900" y="52673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087F83"/>
                </a:solidFill>
              </a:defRPr>
            </a:defPPr>
          </a:lstStyle>
          <a:p xmlns:a="http://schemas.openxmlformats.org/drawingml/2006/main">
            <a:pPr>
              <a:defRPr sz="1875" b="0">
                <a:solidFill>
                  <a:srgbClr val="087F83"/>
                </a:solidFill>
              </a:defRPr>
            </a:pPr>
            <a:r>
              <a:rPr sz="1875" b="0">
                <a:solidFill>
                  <a:srgbClr val="087F83"/>
                </a:solidFill>
              </a:rPr>
              <a:t>cue open   /   record 0 "VP01_demo.csv" real</a:t>
            </a:r>
          </a:p>
          <a:p xmlns:a="http://schemas.openxmlformats.org/drawingml/2006/main">
            <a:pPr>
              <a:defRPr sz="1875" b="0">
                <a:solidFill>
                  <a:srgbClr val="087F83"/>
                </a:solidFill>
              </a:defRPr>
            </a:pPr>
            <a:r>
              <a:rPr sz="1875" b="0">
                <a:solidFill>
                  <a:srgbClr val="087F83"/>
                </a:solidFill>
              </a:rPr>
              <a:t>mark hands_up   /   mark rest   /   mark subtract 7 from 347</a:t>
            </a:r>
          </a:p>
        </p:txBody>
      </p:sp>
    </p:spTree>
    <p:extLst>
      <p:ext uri="{BB962C8B-B14F-4D97-AF65-F5344CB8AC3E}">
        <p14:creationId xmlns:p14="http://schemas.microsoft.com/office/powerpoint/2010/main" val="395914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2026-10-16T11:20:28.3390000Z</dcterms:created>
  <dcterms:modified xsi:type="dcterms:W3CDTF">2026-10-16T11:20:28.3390000Z</dcterms:modified>
</coreProperties>
</file>